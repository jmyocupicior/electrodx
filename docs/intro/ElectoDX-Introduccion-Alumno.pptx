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Bienvenido, bienvenida. Si estás viendo este video es porque acabas de entrar a ElectoDX, la plataforma de formación en electrodiagnóstico y neurofisiología clínica. Mi objetivo en los próximos minutos es simple: que cuando termines sepas exactamente qué vas a aprender, cómo se estudia aquí, cómo se te va a evaluar y qué necesitas cumplir para obtener tu constancia. Te recomiendo verlo completo una sola vez, con calma.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Nada de sorpresas a mitad del camino. En este video cubrimos el programa, tu acceso, la navegación diaria, las evaluaciones y el cierre con la constancia.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no es un curso de video-clases sueltas. Es un programa de posgrado estructurado en 13 módulos, con un temario de casi quinientos temas y subtemas, y alrededor de setenta y siete mil palabras de contenido redactado con bibliografía.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recorrido está diseñado en el mismo orden en el que se construye un electromiografista: bases, técnicas, anatomía topográfica, patología, algoritmos, tablas, bibliografía y un módulo completo de seguridad, errores frecuentes y control de calidad. Ese último no lo dejes para el final.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las bases: sin esto, todo lo demás son recetas memorizadas. Después las técnicas. Luego la anatomía topográfica nervio por nervio. Y finalmente patología, algoritmos y control de calidad.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registrarte te pedimos nombre, correo, perfil formativo, sede hospitalaria y universidad. La cédula se valida contra el Registro Nacional de Profesionistas de la SEP. Si estás en trámite puedes registrarte sin ella, pero resuélvela durante el curso: la cédula verificada es requisito para la constancia. Después, tu expediente queda en revisión académica.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Arriba, en la barra, tienes Temario, Currículo, Exámenes, Simuladores y Mi Portal. Currículo abre el panel lateral con el árbol completo, tu progreso y un buscador. Si necesitas encontrar onda F o túnel carpiano, escríbelo ahí. También hay selector de idioma, modo claro y oscuro, e indicador de conexión.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 a Mi Portal. Verás progreso global, promedio, racha y el botón Continuar donde te quedaste. Las pestañas son Resumen General, Mis Clases y Módulos, Quizzes del Curso, Tareas, Avisos, Constancia, y Estudio y reportes. Esa última es la que más puede subir tu calificación.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Dentro de cada lección tienes apuntes, marcador y Crear tarjetas de este tema. En Estudio y reportes está la repetición espaciada SM-2, fortalezas por módulo, cuaderno de errores, reportes EMG, preguntas al docente y calendario exportable.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final de los temas evaluables está la evaluación. Se aprueba con 70 por ciento o más. Hay opción única, múltiple, verdadero o falso e identificación de imagen. Debes responder todas las preguntas. Las respuestas se califican en el servidor. Aprobar con 70 desbloquea el tema; el promedio de 80 es el que mira la constancia. No uses los reintentos para adivinar.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Aparte de las evaluaciones de tema, en Exámenes armas tu propio simulacro. Modo Tutor para aprender, Modo Examen para medirte. Si tu profesor te asigna un examen, es evaluación oficial con tiempo continuo.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Simuladores tienes el mapa del plexo, casos clínicos EMG, simulador de trazos y examen tipo consejo. Los casos cubren patrones axonales, desmielinizantes, miopáticos, atrapamientos, radiculopatías, plexopatías, motoneurona, unión neuromuscular y trampas técnicas.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 a Mi Portal, pestaña Constancia. Los cuatro indicadores tienen que estar en verde: cédula verificada, avance curricular prácticamente al total, mayoría de evaluaciones aprobadas y promedio de al menos 80 por ciento. Apunta más alto desde el principio. Cuando estén cumplidos se activa Emitir constancia.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plataforma genera un folio único, tu promedio, un código de verificación y un código QR. Cualquier jefe de servicio puede entrar a la dirección de verificación con tu folio o escanear el QR. Si vuelves a pedirla, te entregamos la misma, con el mismo folio.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Instala la plataforma como aplicación. Activa las notificaciones. Descarga módulos para estudiar sin red. Todo el progreso vive en tu cuenta, no en el dispositivo. La asistencia a clases y talleres cuenta en el expediente académico, no para emitir la constancia.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ruta corta: entra a tu portal, usa Continuar donde te quedaste, estudia el tema completo, genera tarjetas, contesta la evaluación y lee todas las explicaciones, aciertos incluidos. Cada semana, cuaderno de errores y repasos pendientes.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no estamos memorizando datos para pasar un examen. Estamos aprendiendo a leer señales eléctricas de las que dependen decisiones quirúrgicas, tratamientos inmunológicos y diagnósticos que cambian la vida de un paciente. Estudia con esa responsabilidad. Bienvenido a ElectoDX. Nos vemos en el módulo uno.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3520440" y="1417320"/>
            <a:ext cx="2103120" cy="2103120"/>
          </a:xfrm>
          <a:prstGeom prst="rect">
            <a:avLst/>
          </a:prstGeom>
        </p:spPr>
      </p:pic>
      <p:sp>
        <p:nvSpPr>
          <p:cNvPr id="6" name="TextBox 5"/>
          <p:cNvSpPr txBox="1"/>
          <p:nvPr/>
        </p:nvSpPr>
        <p:spPr>
          <a:xfrm>
            <a:off x="1554480" y="3703320"/>
            <a:ext cx="5852160" cy="640080"/>
          </a:xfrm>
          <a:prstGeom prst="rect">
            <a:avLst/>
          </a:prstGeom>
          <a:noFill/>
        </p:spPr>
        <p:txBody>
          <a:bodyPr wrap="none">
            <a:spAutoFit/>
          </a:bodyPr>
          <a:lstStyle/>
          <a:p>
            <a:r>
              <a:rPr sz="4000" b="1">
                <a:solidFill>
                  <a:srgbClr val="FFFFFF"/>
                </a:solidFill>
                <a:latin typeface="Calibri"/>
              </a:rPr>
              <a:t>Electo</a:t>
            </a:r>
            <a:r>
              <a:rPr sz="40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1097280" y="4434840"/>
            <a:ext cx="6949440" cy="822960"/>
          </a:xfrm>
          <a:prstGeom prst="rect">
            <a:avLst/>
          </a:prstGeom>
          <a:noFill/>
        </p:spPr>
        <p:txBody>
          <a:bodyPr wrap="square" anchor="t">
            <a:spAutoFit/>
          </a:bodyPr>
          <a:lstStyle/>
          <a:p>
            <a:pPr algn="ctr">
              <a:spcAft>
                <a:spcPts val="400"/>
              </a:spcAft>
            </a:pPr>
            <a:r>
              <a:rPr sz="1600" b="0">
                <a:solidFill>
                  <a:srgbClr val="CBD5E1"/>
                </a:solidFill>
                <a:latin typeface="Calibri"/>
              </a:rPr>
              <a:t>Plataforma integral de formación en</a:t>
            </a:r>
          </a:p>
          <a:p>
            <a:pPr algn="ctr">
              <a:spcAft>
                <a:spcPts val="400"/>
              </a:spcAft>
            </a:pPr>
            <a:r>
              <a:rPr sz="1600" b="0">
                <a:solidFill>
                  <a:srgbClr val="CBD5E1"/>
                </a:solidFill>
                <a:latin typeface="Calibri"/>
              </a:rPr>
              <a:t>electrodiagnóstico y neurofisiología clínica</a:t>
            </a:r>
          </a:p>
        </p:txBody>
      </p:sp>
      <p:sp>
        <p:nvSpPr>
          <p:cNvPr id="8" name="Rounded Rectangle 7"/>
          <p:cNvSpPr/>
          <p:nvPr/>
        </p:nvSpPr>
        <p:spPr>
          <a:xfrm>
            <a:off x="2468880" y="5532120"/>
            <a:ext cx="4206240" cy="384048"/>
          </a:xfrm>
          <a:prstGeom prst="roundRect">
            <a:avLst>
              <a:gd name="adj" fmla="val 50000"/>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5568696"/>
            <a:ext cx="4206240" cy="347472"/>
          </a:xfrm>
          <a:prstGeom prst="rect">
            <a:avLst/>
          </a:prstGeom>
          <a:noFill/>
        </p:spPr>
        <p:txBody>
          <a:bodyPr wrap="square" anchor="ctr">
            <a:spAutoFit/>
          </a:bodyPr>
          <a:lstStyle/>
          <a:p>
            <a:pPr algn="ctr">
              <a:spcAft>
                <a:spcPts val="400"/>
              </a:spcAft>
            </a:pPr>
            <a:r>
              <a:rPr sz="1100" b="1">
                <a:solidFill>
                  <a:srgbClr val="38BDF8"/>
                </a:solidFill>
                <a:latin typeface="Calibri"/>
              </a:rPr>
              <a:t>VIDEO DE INTRODUCCIÓN AL ALUMNO</a:t>
            </a:r>
          </a:p>
        </p:txBody>
      </p:sp>
      <p:sp>
        <p:nvSpPr>
          <p:cNvPr id="10" name="Freeform 9"/>
          <p:cNvSpPr/>
          <p:nvPr/>
        </p:nvSpPr>
        <p:spPr>
          <a:xfrm>
            <a:off x="1188720" y="6274612"/>
            <a:ext cx="6766560" cy="864108"/>
          </a:xfrm>
          <a:custGeom>
            <a:avLst/>
            <a:gdLst/>
            <a:ahLst/>
            <a:cxnLst/>
            <a:rect l="l" t="t" r="r" b="b"/>
            <a:pathLst>
              <a:path w="6766560" h="864108">
                <a:moveTo>
                  <a:pt x="0" y="530810"/>
                </a:moveTo>
                <a:lnTo>
                  <a:pt x="676656" y="530810"/>
                </a:lnTo>
                <a:lnTo>
                  <a:pt x="947318" y="74067"/>
                </a:lnTo>
                <a:lnTo>
                  <a:pt x="1217980" y="864108"/>
                </a:lnTo>
                <a:lnTo>
                  <a:pt x="1488643" y="530810"/>
                </a:lnTo>
                <a:lnTo>
                  <a:pt x="2571292" y="530810"/>
                </a:lnTo>
                <a:lnTo>
                  <a:pt x="3112617" y="98756"/>
                </a:lnTo>
                <a:lnTo>
                  <a:pt x="3653942" y="0"/>
                </a:lnTo>
                <a:lnTo>
                  <a:pt x="4330598" y="839420"/>
                </a:lnTo>
                <a:lnTo>
                  <a:pt x="4871923" y="530810"/>
                </a:lnTo>
                <a:lnTo>
                  <a:pt x="6766560" y="530810"/>
                </a:lnTo>
              </a:path>
            </a:pathLst>
          </a:custGeom>
          <a:noFill/>
          <a:ln w="3048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7498079"/>
            <a:ext cx="6400800" cy="365760"/>
          </a:xfrm>
          <a:prstGeom prst="rect">
            <a:avLst/>
          </a:prstGeom>
          <a:noFill/>
        </p:spPr>
        <p:txBody>
          <a:bodyPr wrap="square" anchor="t">
            <a:spAutoFit/>
          </a:bodyPr>
          <a:lstStyle/>
          <a:p>
            <a:pPr algn="ctr">
              <a:spcAft>
                <a:spcPts val="400"/>
              </a:spcAft>
            </a:pPr>
            <a:r>
              <a:rPr sz="1200" b="0">
                <a:solidFill>
                  <a:srgbClr val="94A3B8"/>
                </a:solidFill>
                <a:latin typeface="Calibri"/>
              </a:rPr>
              <a:t>Lee las notas del presentador · un clic = una diapositiva</a:t>
            </a:r>
          </a:p>
        </p:txBody>
      </p:sp>
      <p:sp>
        <p:nvSpPr>
          <p:cNvPr id="12" name="Rounded Rectangle 11"/>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8732520"/>
            <a:ext cx="462578"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15" name="TextBox 14"/>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01  /  17</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ANTES DE EMPEZAR</a:t>
            </a:r>
          </a:p>
        </p:txBody>
      </p:sp>
      <p:sp>
        <p:nvSpPr>
          <p:cNvPr id="8" name="TextBox 7"/>
          <p:cNvSpPr txBox="1"/>
          <p:nvPr/>
        </p:nvSpPr>
        <p:spPr>
          <a:xfrm>
            <a:off x="502920" y="1234440"/>
            <a:ext cx="8138160" cy="1005840"/>
          </a:xfrm>
          <a:prstGeom prst="rect">
            <a:avLst/>
          </a:prstGeom>
          <a:noFill/>
        </p:spPr>
        <p:txBody>
          <a:bodyPr wrap="square" anchor="t">
            <a:spAutoFit/>
          </a:bodyPr>
          <a:lstStyle/>
          <a:p>
            <a:pPr algn="l">
              <a:spcAft>
                <a:spcPts val="400"/>
              </a:spcAft>
            </a:pPr>
            <a:r>
              <a:rPr sz="2800" b="1">
                <a:solidFill>
                  <a:srgbClr val="FFFFFF"/>
                </a:solidFill>
                <a:latin typeface="Calibri"/>
              </a:rPr>
              <a:t>Cuatro cosas que debes tener claras</a:t>
            </a:r>
          </a:p>
        </p:txBody>
      </p:sp>
      <p:sp>
        <p:nvSpPr>
          <p:cNvPr id="9" name="Rounded Rectangle 8"/>
          <p:cNvSpPr/>
          <p:nvPr/>
        </p:nvSpPr>
        <p:spPr>
          <a:xfrm>
            <a:off x="502920" y="2423160"/>
            <a:ext cx="8138160" cy="1078992"/>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49808" y="2679191"/>
            <a:ext cx="566928" cy="5669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770632"/>
            <a:ext cx="566928" cy="411480"/>
          </a:xfrm>
          <a:prstGeom prst="rect">
            <a:avLst/>
          </a:prstGeom>
          <a:noFill/>
        </p:spPr>
        <p:txBody>
          <a:bodyPr wrap="square" anchor="t">
            <a:spAutoFit/>
          </a:bodyPr>
          <a:lstStyle/>
          <a:p>
            <a:pPr algn="ctr">
              <a:spcAft>
                <a:spcPts val="400"/>
              </a:spcAft>
            </a:pPr>
            <a:r>
              <a:rPr sz="1400" b="1">
                <a:solidFill>
                  <a:srgbClr val="FFFFFF"/>
                </a:solidFill>
                <a:latin typeface="Calibri"/>
              </a:rPr>
              <a:t>01</a:t>
            </a:r>
          </a:p>
        </p:txBody>
      </p:sp>
      <p:sp>
        <p:nvSpPr>
          <p:cNvPr id="12" name="TextBox 11"/>
          <p:cNvSpPr txBox="1"/>
          <p:nvPr/>
        </p:nvSpPr>
        <p:spPr>
          <a:xfrm>
            <a:off x="1554480" y="2743200"/>
            <a:ext cx="6675120" cy="457200"/>
          </a:xfrm>
          <a:prstGeom prst="rect">
            <a:avLst/>
          </a:prstGeom>
          <a:noFill/>
        </p:spPr>
        <p:txBody>
          <a:bodyPr wrap="square" anchor="t">
            <a:spAutoFit/>
          </a:bodyPr>
          <a:lstStyle/>
          <a:p>
            <a:pPr algn="l">
              <a:spcAft>
                <a:spcPts val="400"/>
              </a:spcAft>
            </a:pPr>
            <a:r>
              <a:rPr sz="2000" b="1">
                <a:solidFill>
                  <a:srgbClr val="FFFFFF"/>
                </a:solidFill>
                <a:latin typeface="Calibri"/>
              </a:rPr>
              <a:t>En qué consiste el diplomado</a:t>
            </a:r>
          </a:p>
        </p:txBody>
      </p:sp>
      <p:sp>
        <p:nvSpPr>
          <p:cNvPr id="13" name="Rounded Rectangle 12"/>
          <p:cNvSpPr/>
          <p:nvPr/>
        </p:nvSpPr>
        <p:spPr>
          <a:xfrm>
            <a:off x="502920" y="3657600"/>
            <a:ext cx="8138160" cy="1078992"/>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49808" y="3913632"/>
            <a:ext cx="566928" cy="5669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005072"/>
            <a:ext cx="566928" cy="411480"/>
          </a:xfrm>
          <a:prstGeom prst="rect">
            <a:avLst/>
          </a:prstGeom>
          <a:noFill/>
        </p:spPr>
        <p:txBody>
          <a:bodyPr wrap="square" anchor="t">
            <a:spAutoFit/>
          </a:bodyPr>
          <a:lstStyle/>
          <a:p>
            <a:pPr algn="ctr">
              <a:spcAft>
                <a:spcPts val="400"/>
              </a:spcAft>
            </a:pPr>
            <a:r>
              <a:rPr sz="1400" b="1">
                <a:solidFill>
                  <a:srgbClr val="FFFFFF"/>
                </a:solidFill>
                <a:latin typeface="Calibri"/>
              </a:rPr>
              <a:t>02</a:t>
            </a:r>
          </a:p>
        </p:txBody>
      </p:sp>
      <p:sp>
        <p:nvSpPr>
          <p:cNvPr id="16" name="TextBox 15"/>
          <p:cNvSpPr txBox="1"/>
          <p:nvPr/>
        </p:nvSpPr>
        <p:spPr>
          <a:xfrm>
            <a:off x="1554480" y="3977639"/>
            <a:ext cx="6675120" cy="457200"/>
          </a:xfrm>
          <a:prstGeom prst="rect">
            <a:avLst/>
          </a:prstGeom>
          <a:noFill/>
        </p:spPr>
        <p:txBody>
          <a:bodyPr wrap="square" anchor="t">
            <a:spAutoFit/>
          </a:bodyPr>
          <a:lstStyle/>
          <a:p>
            <a:pPr algn="l">
              <a:spcAft>
                <a:spcPts val="400"/>
              </a:spcAft>
            </a:pPr>
            <a:r>
              <a:rPr sz="2000" b="1">
                <a:solidFill>
                  <a:srgbClr val="FFFFFF"/>
                </a:solidFill>
                <a:latin typeface="Calibri"/>
              </a:rPr>
              <a:t>Cómo entrar y navegar la plataforma</a:t>
            </a:r>
          </a:p>
        </p:txBody>
      </p:sp>
      <p:sp>
        <p:nvSpPr>
          <p:cNvPr id="17" name="Rounded Rectangle 16"/>
          <p:cNvSpPr/>
          <p:nvPr/>
        </p:nvSpPr>
        <p:spPr>
          <a:xfrm>
            <a:off x="502920" y="4892040"/>
            <a:ext cx="8138160" cy="1078992"/>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5148072"/>
            <a:ext cx="566928" cy="5669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239512"/>
            <a:ext cx="566928" cy="411480"/>
          </a:xfrm>
          <a:prstGeom prst="rect">
            <a:avLst/>
          </a:prstGeom>
          <a:noFill/>
        </p:spPr>
        <p:txBody>
          <a:bodyPr wrap="square" anchor="t">
            <a:spAutoFit/>
          </a:bodyPr>
          <a:lstStyle/>
          <a:p>
            <a:pPr algn="ctr">
              <a:spcAft>
                <a:spcPts val="400"/>
              </a:spcAft>
            </a:pPr>
            <a:r>
              <a:rPr sz="1400" b="1">
                <a:solidFill>
                  <a:srgbClr val="FFFFFF"/>
                </a:solidFill>
                <a:latin typeface="Calibri"/>
              </a:rPr>
              <a:t>03</a:t>
            </a:r>
          </a:p>
        </p:txBody>
      </p:sp>
      <p:sp>
        <p:nvSpPr>
          <p:cNvPr id="20" name="TextBox 19"/>
          <p:cNvSpPr txBox="1"/>
          <p:nvPr/>
        </p:nvSpPr>
        <p:spPr>
          <a:xfrm>
            <a:off x="1554480" y="5212079"/>
            <a:ext cx="6675120" cy="457200"/>
          </a:xfrm>
          <a:prstGeom prst="rect">
            <a:avLst/>
          </a:prstGeom>
          <a:noFill/>
        </p:spPr>
        <p:txBody>
          <a:bodyPr wrap="square" anchor="t">
            <a:spAutoFit/>
          </a:bodyPr>
          <a:lstStyle/>
          <a:p>
            <a:pPr algn="l">
              <a:spcAft>
                <a:spcPts val="400"/>
              </a:spcAft>
            </a:pPr>
            <a:r>
              <a:rPr sz="2000" b="1">
                <a:solidFill>
                  <a:srgbClr val="FFFFFF"/>
                </a:solidFill>
                <a:latin typeface="Calibri"/>
              </a:rPr>
              <a:t>Cómo se estudia y cómo se evalúa</a:t>
            </a:r>
          </a:p>
        </p:txBody>
      </p:sp>
      <p:sp>
        <p:nvSpPr>
          <p:cNvPr id="21" name="Rounded Rectangle 20"/>
          <p:cNvSpPr/>
          <p:nvPr/>
        </p:nvSpPr>
        <p:spPr>
          <a:xfrm>
            <a:off x="502920" y="6126480"/>
            <a:ext cx="8138160" cy="1078992"/>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6382512"/>
            <a:ext cx="566928" cy="5669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73952"/>
            <a:ext cx="566928" cy="411480"/>
          </a:xfrm>
          <a:prstGeom prst="rect">
            <a:avLst/>
          </a:prstGeom>
          <a:noFill/>
        </p:spPr>
        <p:txBody>
          <a:bodyPr wrap="square" anchor="t">
            <a:spAutoFit/>
          </a:bodyPr>
          <a:lstStyle/>
          <a:p>
            <a:pPr algn="ctr">
              <a:spcAft>
                <a:spcPts val="400"/>
              </a:spcAft>
            </a:pPr>
            <a:r>
              <a:rPr sz="1400" b="1">
                <a:solidFill>
                  <a:srgbClr val="FFFFFF"/>
                </a:solidFill>
                <a:latin typeface="Calibri"/>
              </a:rPr>
              <a:t>04</a:t>
            </a:r>
          </a:p>
        </p:txBody>
      </p:sp>
      <p:sp>
        <p:nvSpPr>
          <p:cNvPr id="24" name="TextBox 23"/>
          <p:cNvSpPr txBox="1"/>
          <p:nvPr/>
        </p:nvSpPr>
        <p:spPr>
          <a:xfrm>
            <a:off x="1554480" y="6446520"/>
            <a:ext cx="6675120" cy="457200"/>
          </a:xfrm>
          <a:prstGeom prst="rect">
            <a:avLst/>
          </a:prstGeom>
          <a:noFill/>
        </p:spPr>
        <p:txBody>
          <a:bodyPr wrap="square" anchor="t">
            <a:spAutoFit/>
          </a:bodyPr>
          <a:lstStyle/>
          <a:p>
            <a:pPr algn="l">
              <a:spcAft>
                <a:spcPts val="400"/>
              </a:spcAft>
            </a:pPr>
            <a:r>
              <a:rPr sz="2000" b="1">
                <a:solidFill>
                  <a:srgbClr val="FFFFFF"/>
                </a:solidFill>
                <a:latin typeface="Calibri"/>
              </a:rPr>
              <a:t>Cómo se obtiene y verifica la constancia</a:t>
            </a:r>
          </a:p>
        </p:txBody>
      </p:sp>
      <p:sp>
        <p:nvSpPr>
          <p:cNvPr id="25" name="Rounded Rectangle 24"/>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8732520"/>
            <a:ext cx="925157"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28" name="TextBox 27"/>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02  /  17</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EL CURSO</a:t>
            </a:r>
          </a:p>
        </p:txBody>
      </p:sp>
      <p:sp>
        <p:nvSpPr>
          <p:cNvPr id="8" name="TextBox 7"/>
          <p:cNvSpPr txBox="1"/>
          <p:nvPr/>
        </p:nvSpPr>
        <p:spPr>
          <a:xfrm>
            <a:off x="502920" y="1234440"/>
            <a:ext cx="8138160" cy="1188720"/>
          </a:xfrm>
          <a:prstGeom prst="rect">
            <a:avLst/>
          </a:prstGeom>
          <a:noFill/>
        </p:spPr>
        <p:txBody>
          <a:bodyPr wrap="square" anchor="t">
            <a:spAutoFit/>
          </a:bodyPr>
          <a:lstStyle/>
          <a:p>
            <a:pPr algn="l">
              <a:spcAft>
                <a:spcPts val="400"/>
              </a:spcAft>
            </a:pPr>
            <a:r>
              <a:rPr sz="3000" b="1">
                <a:solidFill>
                  <a:srgbClr val="FFFFFF"/>
                </a:solidFill>
                <a:latin typeface="Calibri"/>
              </a:rPr>
              <a:t>Un programa completo,
no clases sueltas</a:t>
            </a:r>
          </a:p>
        </p:txBody>
      </p:sp>
      <p:sp>
        <p:nvSpPr>
          <p:cNvPr id="9" name="TextBox 8"/>
          <p:cNvSpPr txBox="1"/>
          <p:nvPr/>
        </p:nvSpPr>
        <p:spPr>
          <a:xfrm>
            <a:off x="502920" y="2560320"/>
            <a:ext cx="8138160" cy="640080"/>
          </a:xfrm>
          <a:prstGeom prst="rect">
            <a:avLst/>
          </a:prstGeom>
          <a:noFill/>
        </p:spPr>
        <p:txBody>
          <a:bodyPr wrap="square" anchor="t">
            <a:spAutoFit/>
          </a:bodyPr>
          <a:lstStyle/>
          <a:p>
            <a:pPr algn="l">
              <a:spcAft>
                <a:spcPts val="400"/>
              </a:spcAft>
            </a:pPr>
            <a:r>
              <a:rPr sz="1500" b="0">
                <a:solidFill>
                  <a:srgbClr val="CBD5E1"/>
                </a:solidFill>
                <a:latin typeface="Calibri"/>
              </a:rPr>
              <a:t>Temario jerárquico con perlas clínicas, puntos clave, bibliografía y práctica.</a:t>
            </a:r>
          </a:p>
        </p:txBody>
      </p:sp>
      <p:sp>
        <p:nvSpPr>
          <p:cNvPr id="10" name="Rounded Rectangle 9"/>
          <p:cNvSpPr/>
          <p:nvPr/>
        </p:nvSpPr>
        <p:spPr>
          <a:xfrm>
            <a:off x="502920" y="3383280"/>
            <a:ext cx="3886200" cy="1920240"/>
          </a:xfrm>
          <a:prstGeom prst="roundRect">
            <a:avLst>
              <a:gd name="adj" fmla="val 12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584448"/>
            <a:ext cx="3611880" cy="502920"/>
          </a:xfrm>
          <a:prstGeom prst="rect">
            <a:avLst/>
          </a:prstGeom>
          <a:noFill/>
        </p:spPr>
        <p:txBody>
          <a:bodyPr wrap="square" anchor="t">
            <a:spAutoFit/>
          </a:bodyPr>
          <a:lstStyle/>
          <a:p>
            <a:pPr algn="l">
              <a:spcAft>
                <a:spcPts val="400"/>
              </a:spcAft>
            </a:pPr>
            <a:r>
              <a:rPr sz="2800" b="1">
                <a:solidFill>
                  <a:srgbClr val="FFFFFF"/>
                </a:solidFill>
                <a:latin typeface="Calibri"/>
              </a:rPr>
              <a:t>13</a:t>
            </a:r>
          </a:p>
        </p:txBody>
      </p:sp>
      <p:sp>
        <p:nvSpPr>
          <p:cNvPr id="12" name="TextBox 11"/>
          <p:cNvSpPr txBox="1"/>
          <p:nvPr/>
        </p:nvSpPr>
        <p:spPr>
          <a:xfrm>
            <a:off x="667512" y="4096512"/>
            <a:ext cx="3611880" cy="365760"/>
          </a:xfrm>
          <a:prstGeom prst="rect">
            <a:avLst/>
          </a:prstGeom>
          <a:noFill/>
        </p:spPr>
        <p:txBody>
          <a:bodyPr wrap="square" anchor="t">
            <a:spAutoFit/>
          </a:bodyPr>
          <a:lstStyle/>
          <a:p>
            <a:pPr algn="l">
              <a:spcAft>
                <a:spcPts val="400"/>
              </a:spcAft>
            </a:pPr>
            <a:r>
              <a:rPr sz="1200" b="0">
                <a:solidFill>
                  <a:srgbClr val="94A3B8"/>
                </a:solidFill>
                <a:latin typeface="Calibri"/>
              </a:rPr>
              <a:t>Módulos</a:t>
            </a:r>
          </a:p>
        </p:txBody>
      </p:sp>
      <p:sp>
        <p:nvSpPr>
          <p:cNvPr id="13" name="Rounded Rectangle 12"/>
          <p:cNvSpPr/>
          <p:nvPr/>
        </p:nvSpPr>
        <p:spPr>
          <a:xfrm>
            <a:off x="4617720" y="3383280"/>
            <a:ext cx="3886200" cy="1920240"/>
          </a:xfrm>
          <a:prstGeom prst="roundRect">
            <a:avLst>
              <a:gd name="adj" fmla="val 12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82312" y="3584448"/>
            <a:ext cx="3611880" cy="502920"/>
          </a:xfrm>
          <a:prstGeom prst="rect">
            <a:avLst/>
          </a:prstGeom>
          <a:noFill/>
        </p:spPr>
        <p:txBody>
          <a:bodyPr wrap="square" anchor="t">
            <a:spAutoFit/>
          </a:bodyPr>
          <a:lstStyle/>
          <a:p>
            <a:pPr algn="l">
              <a:spcAft>
                <a:spcPts val="400"/>
              </a:spcAft>
            </a:pPr>
            <a:r>
              <a:rPr sz="2800" b="1">
                <a:solidFill>
                  <a:srgbClr val="FFFFFF"/>
                </a:solidFill>
                <a:latin typeface="Calibri"/>
              </a:rPr>
              <a:t>479</a:t>
            </a:r>
          </a:p>
        </p:txBody>
      </p:sp>
      <p:sp>
        <p:nvSpPr>
          <p:cNvPr id="15" name="TextBox 14"/>
          <p:cNvSpPr txBox="1"/>
          <p:nvPr/>
        </p:nvSpPr>
        <p:spPr>
          <a:xfrm>
            <a:off x="4782312" y="4096512"/>
            <a:ext cx="3611880" cy="365760"/>
          </a:xfrm>
          <a:prstGeom prst="rect">
            <a:avLst/>
          </a:prstGeom>
          <a:noFill/>
        </p:spPr>
        <p:txBody>
          <a:bodyPr wrap="square" anchor="t">
            <a:spAutoFit/>
          </a:bodyPr>
          <a:lstStyle/>
          <a:p>
            <a:pPr algn="l">
              <a:spcAft>
                <a:spcPts val="400"/>
              </a:spcAft>
            </a:pPr>
            <a:r>
              <a:rPr sz="1200" b="0">
                <a:solidFill>
                  <a:srgbClr val="94A3B8"/>
                </a:solidFill>
                <a:latin typeface="Calibri"/>
              </a:rPr>
              <a:t>Temas y subtemas</a:t>
            </a:r>
          </a:p>
        </p:txBody>
      </p:sp>
      <p:sp>
        <p:nvSpPr>
          <p:cNvPr id="16" name="Rounded Rectangle 15"/>
          <p:cNvSpPr/>
          <p:nvPr/>
        </p:nvSpPr>
        <p:spPr>
          <a:xfrm>
            <a:off x="502920" y="5532120"/>
            <a:ext cx="3886200" cy="1920240"/>
          </a:xfrm>
          <a:prstGeom prst="roundRect">
            <a:avLst>
              <a:gd name="adj" fmla="val 12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5733288"/>
            <a:ext cx="3611880" cy="502920"/>
          </a:xfrm>
          <a:prstGeom prst="rect">
            <a:avLst/>
          </a:prstGeom>
          <a:noFill/>
        </p:spPr>
        <p:txBody>
          <a:bodyPr wrap="square" anchor="t">
            <a:spAutoFit/>
          </a:bodyPr>
          <a:lstStyle/>
          <a:p>
            <a:pPr algn="l">
              <a:spcAft>
                <a:spcPts val="400"/>
              </a:spcAft>
            </a:pPr>
            <a:r>
              <a:rPr sz="2800" b="1">
                <a:solidFill>
                  <a:srgbClr val="FFFFFF"/>
                </a:solidFill>
                <a:latin typeface="Calibri"/>
              </a:rPr>
              <a:t>77 mil</a:t>
            </a:r>
          </a:p>
        </p:txBody>
      </p:sp>
      <p:sp>
        <p:nvSpPr>
          <p:cNvPr id="18" name="TextBox 17"/>
          <p:cNvSpPr txBox="1"/>
          <p:nvPr/>
        </p:nvSpPr>
        <p:spPr>
          <a:xfrm>
            <a:off x="667512" y="6245352"/>
            <a:ext cx="3611880" cy="365760"/>
          </a:xfrm>
          <a:prstGeom prst="rect">
            <a:avLst/>
          </a:prstGeom>
          <a:noFill/>
        </p:spPr>
        <p:txBody>
          <a:bodyPr wrap="square" anchor="t">
            <a:spAutoFit/>
          </a:bodyPr>
          <a:lstStyle/>
          <a:p>
            <a:pPr algn="l">
              <a:spcAft>
                <a:spcPts val="400"/>
              </a:spcAft>
            </a:pPr>
            <a:r>
              <a:rPr sz="1200" b="0">
                <a:solidFill>
                  <a:srgbClr val="94A3B8"/>
                </a:solidFill>
                <a:latin typeface="Calibri"/>
              </a:rPr>
              <a:t>Palabras</a:t>
            </a:r>
          </a:p>
        </p:txBody>
      </p:sp>
      <p:sp>
        <p:nvSpPr>
          <p:cNvPr id="19" name="Rounded Rectangle 18"/>
          <p:cNvSpPr/>
          <p:nvPr/>
        </p:nvSpPr>
        <p:spPr>
          <a:xfrm>
            <a:off x="4617720" y="5532120"/>
            <a:ext cx="3886200" cy="1920240"/>
          </a:xfrm>
          <a:prstGeom prst="roundRect">
            <a:avLst>
              <a:gd name="adj" fmla="val 12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82312" y="5733288"/>
            <a:ext cx="3611880" cy="502920"/>
          </a:xfrm>
          <a:prstGeom prst="rect">
            <a:avLst/>
          </a:prstGeom>
          <a:noFill/>
        </p:spPr>
        <p:txBody>
          <a:bodyPr wrap="square" anchor="t">
            <a:spAutoFit/>
          </a:bodyPr>
          <a:lstStyle/>
          <a:p>
            <a:pPr algn="l">
              <a:spcAft>
                <a:spcPts val="400"/>
              </a:spcAft>
            </a:pPr>
            <a:r>
              <a:rPr sz="2800" b="1">
                <a:solidFill>
                  <a:srgbClr val="FFFFFF"/>
                </a:solidFill>
                <a:latin typeface="Calibri"/>
              </a:rPr>
              <a:t>378</a:t>
            </a:r>
          </a:p>
        </p:txBody>
      </p:sp>
      <p:sp>
        <p:nvSpPr>
          <p:cNvPr id="21" name="TextBox 20"/>
          <p:cNvSpPr txBox="1"/>
          <p:nvPr/>
        </p:nvSpPr>
        <p:spPr>
          <a:xfrm>
            <a:off x="4782312" y="6245352"/>
            <a:ext cx="3611880" cy="365760"/>
          </a:xfrm>
          <a:prstGeom prst="rect">
            <a:avLst/>
          </a:prstGeom>
          <a:noFill/>
        </p:spPr>
        <p:txBody>
          <a:bodyPr wrap="square" anchor="t">
            <a:spAutoFit/>
          </a:bodyPr>
          <a:lstStyle/>
          <a:p>
            <a:pPr algn="l">
              <a:spcAft>
                <a:spcPts val="400"/>
              </a:spcAft>
            </a:pPr>
            <a:r>
              <a:rPr sz="1200" b="0">
                <a:solidFill>
                  <a:srgbClr val="94A3B8"/>
                </a:solidFill>
                <a:latin typeface="Calibri"/>
              </a:rPr>
              <a:t>Lecciones redactadas</a:t>
            </a:r>
          </a:p>
        </p:txBody>
      </p:sp>
      <p:sp>
        <p:nvSpPr>
          <p:cNvPr id="22" name="Rounded Rectangle 21"/>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 y="8732520"/>
            <a:ext cx="1387736"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25" name="TextBox 24"/>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03  /  17</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TEMARIO OFICIAL</a:t>
            </a:r>
          </a:p>
        </p:txBody>
      </p:sp>
      <p:sp>
        <p:nvSpPr>
          <p:cNvPr id="8" name="TextBox 7"/>
          <p:cNvSpPr txBox="1"/>
          <p:nvPr/>
        </p:nvSpPr>
        <p:spPr>
          <a:xfrm>
            <a:off x="502920" y="1207008"/>
            <a:ext cx="8138160" cy="457200"/>
          </a:xfrm>
          <a:prstGeom prst="rect">
            <a:avLst/>
          </a:prstGeom>
          <a:noFill/>
        </p:spPr>
        <p:txBody>
          <a:bodyPr wrap="square" anchor="t">
            <a:spAutoFit/>
          </a:bodyPr>
          <a:lstStyle/>
          <a:p>
            <a:pPr algn="l">
              <a:spcAft>
                <a:spcPts val="400"/>
              </a:spcAft>
            </a:pPr>
            <a:r>
              <a:rPr sz="2800" b="1">
                <a:solidFill>
                  <a:srgbClr val="FFFFFF"/>
                </a:solidFill>
                <a:latin typeface="Calibri"/>
              </a:rPr>
              <a:t>Los 13 módulos</a:t>
            </a:r>
          </a:p>
        </p:txBody>
      </p:sp>
      <p:sp>
        <p:nvSpPr>
          <p:cNvPr id="9" name="Rounded Rectangle 8"/>
          <p:cNvSpPr/>
          <p:nvPr/>
        </p:nvSpPr>
        <p:spPr>
          <a:xfrm>
            <a:off x="457200" y="178308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92807"/>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01</a:t>
            </a:r>
          </a:p>
        </p:txBody>
      </p:sp>
      <p:sp>
        <p:nvSpPr>
          <p:cNvPr id="11" name="TextBox 10"/>
          <p:cNvSpPr txBox="1"/>
          <p:nvPr/>
        </p:nvSpPr>
        <p:spPr>
          <a:xfrm>
            <a:off x="566928" y="213055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Fundamentos de Neurofisiología Clínica</a:t>
            </a:r>
          </a:p>
        </p:txBody>
      </p:sp>
      <p:sp>
        <p:nvSpPr>
          <p:cNvPr id="12" name="Rounded Rectangle 11"/>
          <p:cNvSpPr/>
          <p:nvPr/>
        </p:nvSpPr>
        <p:spPr>
          <a:xfrm>
            <a:off x="457200" y="265176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76148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02</a:t>
            </a:r>
          </a:p>
        </p:txBody>
      </p:sp>
      <p:sp>
        <p:nvSpPr>
          <p:cNvPr id="14" name="TextBox 13"/>
          <p:cNvSpPr txBox="1"/>
          <p:nvPr/>
        </p:nvSpPr>
        <p:spPr>
          <a:xfrm>
            <a:off x="566928" y="299923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Estudios de Conducción Nerviosa</a:t>
            </a:r>
          </a:p>
        </p:txBody>
      </p:sp>
      <p:sp>
        <p:nvSpPr>
          <p:cNvPr id="15" name="Rounded Rectangle 14"/>
          <p:cNvSpPr/>
          <p:nvPr/>
        </p:nvSpPr>
        <p:spPr>
          <a:xfrm>
            <a:off x="457200" y="3520439"/>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63016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03</a:t>
            </a:r>
          </a:p>
        </p:txBody>
      </p:sp>
      <p:sp>
        <p:nvSpPr>
          <p:cNvPr id="17" name="TextBox 16"/>
          <p:cNvSpPr txBox="1"/>
          <p:nvPr/>
        </p:nvSpPr>
        <p:spPr>
          <a:xfrm>
            <a:off x="566928" y="3867911"/>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Electromiografía de Aguja</a:t>
            </a:r>
          </a:p>
        </p:txBody>
      </p:sp>
      <p:sp>
        <p:nvSpPr>
          <p:cNvPr id="18" name="Rounded Rectangle 17"/>
          <p:cNvSpPr/>
          <p:nvPr/>
        </p:nvSpPr>
        <p:spPr>
          <a:xfrm>
            <a:off x="457200" y="438912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49884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04</a:t>
            </a:r>
          </a:p>
        </p:txBody>
      </p:sp>
      <p:sp>
        <p:nvSpPr>
          <p:cNvPr id="20" name="TextBox 19"/>
          <p:cNvSpPr txBox="1"/>
          <p:nvPr/>
        </p:nvSpPr>
        <p:spPr>
          <a:xfrm>
            <a:off x="566928" y="473659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Respuestas Tardías y Reflejos</a:t>
            </a:r>
          </a:p>
        </p:txBody>
      </p:sp>
      <p:sp>
        <p:nvSpPr>
          <p:cNvPr id="21" name="Rounded Rectangle 20"/>
          <p:cNvSpPr/>
          <p:nvPr/>
        </p:nvSpPr>
        <p:spPr>
          <a:xfrm>
            <a:off x="457200" y="525780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536752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05</a:t>
            </a:r>
          </a:p>
        </p:txBody>
      </p:sp>
      <p:sp>
        <p:nvSpPr>
          <p:cNvPr id="23" name="TextBox 22"/>
          <p:cNvSpPr txBox="1"/>
          <p:nvPr/>
        </p:nvSpPr>
        <p:spPr>
          <a:xfrm>
            <a:off x="566928" y="560527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Estimulación Nerviosa Repetitiva</a:t>
            </a:r>
          </a:p>
        </p:txBody>
      </p:sp>
      <p:sp>
        <p:nvSpPr>
          <p:cNvPr id="24" name="Rounded Rectangle 23"/>
          <p:cNvSpPr/>
          <p:nvPr/>
        </p:nvSpPr>
        <p:spPr>
          <a:xfrm>
            <a:off x="457200" y="612648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23620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06</a:t>
            </a:r>
          </a:p>
        </p:txBody>
      </p:sp>
      <p:sp>
        <p:nvSpPr>
          <p:cNvPr id="26" name="TextBox 25"/>
          <p:cNvSpPr txBox="1"/>
          <p:nvPr/>
        </p:nvSpPr>
        <p:spPr>
          <a:xfrm>
            <a:off x="566928" y="647395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Potenciales Evocados</a:t>
            </a:r>
          </a:p>
        </p:txBody>
      </p:sp>
      <p:sp>
        <p:nvSpPr>
          <p:cNvPr id="27" name="Rounded Rectangle 26"/>
          <p:cNvSpPr/>
          <p:nvPr/>
        </p:nvSpPr>
        <p:spPr>
          <a:xfrm>
            <a:off x="457200" y="6995159"/>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710488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07</a:t>
            </a:r>
          </a:p>
        </p:txBody>
      </p:sp>
      <p:sp>
        <p:nvSpPr>
          <p:cNvPr id="29" name="TextBox 28"/>
          <p:cNvSpPr txBox="1"/>
          <p:nvPr/>
        </p:nvSpPr>
        <p:spPr>
          <a:xfrm>
            <a:off x="566928" y="7342631"/>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Estudios Especiales y Técnicas Avanzadas</a:t>
            </a:r>
          </a:p>
        </p:txBody>
      </p:sp>
      <p:sp>
        <p:nvSpPr>
          <p:cNvPr id="30" name="Rounded Rectangle 29"/>
          <p:cNvSpPr/>
          <p:nvPr/>
        </p:nvSpPr>
        <p:spPr>
          <a:xfrm>
            <a:off x="4800600" y="178308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10328" y="1892807"/>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08</a:t>
            </a:r>
          </a:p>
        </p:txBody>
      </p:sp>
      <p:sp>
        <p:nvSpPr>
          <p:cNvPr id="32" name="TextBox 31"/>
          <p:cNvSpPr txBox="1"/>
          <p:nvPr/>
        </p:nvSpPr>
        <p:spPr>
          <a:xfrm>
            <a:off x="4910328" y="213055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Anatomía Topográfica y Neuroconducción por Nervio</a:t>
            </a:r>
          </a:p>
        </p:txBody>
      </p:sp>
      <p:sp>
        <p:nvSpPr>
          <p:cNvPr id="33" name="Rounded Rectangle 32"/>
          <p:cNvSpPr/>
          <p:nvPr/>
        </p:nvSpPr>
        <p:spPr>
          <a:xfrm>
            <a:off x="4800600" y="265176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10328" y="276148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09</a:t>
            </a:r>
          </a:p>
        </p:txBody>
      </p:sp>
      <p:sp>
        <p:nvSpPr>
          <p:cNvPr id="35" name="TextBox 34"/>
          <p:cNvSpPr txBox="1"/>
          <p:nvPr/>
        </p:nvSpPr>
        <p:spPr>
          <a:xfrm>
            <a:off x="4910328" y="299923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Patologías Neuromusculares y Patrones Electrodiagnósticos</a:t>
            </a:r>
          </a:p>
        </p:txBody>
      </p:sp>
      <p:sp>
        <p:nvSpPr>
          <p:cNvPr id="36" name="Rounded Rectangle 35"/>
          <p:cNvSpPr/>
          <p:nvPr/>
        </p:nvSpPr>
        <p:spPr>
          <a:xfrm>
            <a:off x="4800600" y="3520439"/>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0328" y="363016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10</a:t>
            </a:r>
          </a:p>
        </p:txBody>
      </p:sp>
      <p:sp>
        <p:nvSpPr>
          <p:cNvPr id="38" name="TextBox 37"/>
          <p:cNvSpPr txBox="1"/>
          <p:nvPr/>
        </p:nvSpPr>
        <p:spPr>
          <a:xfrm>
            <a:off x="4910328" y="3867911"/>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Criterios Diagnósticos y Algoritmos Clínicos</a:t>
            </a:r>
          </a:p>
        </p:txBody>
      </p:sp>
      <p:sp>
        <p:nvSpPr>
          <p:cNvPr id="39" name="Rounded Rectangle 38"/>
          <p:cNvSpPr/>
          <p:nvPr/>
        </p:nvSpPr>
        <p:spPr>
          <a:xfrm>
            <a:off x="4800600" y="438912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10328" y="449884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11</a:t>
            </a:r>
          </a:p>
        </p:txBody>
      </p:sp>
      <p:sp>
        <p:nvSpPr>
          <p:cNvPr id="41" name="TextBox 40"/>
          <p:cNvSpPr txBox="1"/>
          <p:nvPr/>
        </p:nvSpPr>
        <p:spPr>
          <a:xfrm>
            <a:off x="4910328" y="473659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Referencia Rápida y Tablas Clínicas</a:t>
            </a:r>
          </a:p>
        </p:txBody>
      </p:sp>
      <p:sp>
        <p:nvSpPr>
          <p:cNvPr id="42" name="Rounded Rectangle 41"/>
          <p:cNvSpPr/>
          <p:nvPr/>
        </p:nvSpPr>
        <p:spPr>
          <a:xfrm>
            <a:off x="4800600" y="525780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0328" y="536752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12</a:t>
            </a:r>
          </a:p>
        </p:txBody>
      </p:sp>
      <p:sp>
        <p:nvSpPr>
          <p:cNvPr id="44" name="TextBox 43"/>
          <p:cNvSpPr txBox="1"/>
          <p:nvPr/>
        </p:nvSpPr>
        <p:spPr>
          <a:xfrm>
            <a:off x="4910328" y="560527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Referencias y Bibliografía</a:t>
            </a:r>
          </a:p>
        </p:txBody>
      </p:sp>
      <p:sp>
        <p:nvSpPr>
          <p:cNvPr id="45" name="Rounded Rectangle 44"/>
          <p:cNvSpPr/>
          <p:nvPr/>
        </p:nvSpPr>
        <p:spPr>
          <a:xfrm>
            <a:off x="4800600" y="6126480"/>
            <a:ext cx="4160520" cy="7772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10328" y="6236208"/>
            <a:ext cx="502920" cy="256032"/>
          </a:xfrm>
          <a:prstGeom prst="rect">
            <a:avLst/>
          </a:prstGeom>
          <a:noFill/>
        </p:spPr>
        <p:txBody>
          <a:bodyPr wrap="square" anchor="t">
            <a:spAutoFit/>
          </a:bodyPr>
          <a:lstStyle/>
          <a:p>
            <a:pPr algn="l">
              <a:spcAft>
                <a:spcPts val="400"/>
              </a:spcAft>
            </a:pPr>
            <a:r>
              <a:rPr sz="1100" b="1">
                <a:solidFill>
                  <a:srgbClr val="06B6D4"/>
                </a:solidFill>
                <a:latin typeface="Calibri"/>
              </a:rPr>
              <a:t>13</a:t>
            </a:r>
          </a:p>
        </p:txBody>
      </p:sp>
      <p:sp>
        <p:nvSpPr>
          <p:cNvPr id="47" name="TextBox 46"/>
          <p:cNvSpPr txBox="1"/>
          <p:nvPr/>
        </p:nvSpPr>
        <p:spPr>
          <a:xfrm>
            <a:off x="4910328" y="6473952"/>
            <a:ext cx="3886200" cy="365760"/>
          </a:xfrm>
          <a:prstGeom prst="rect">
            <a:avLst/>
          </a:prstGeom>
          <a:noFill/>
        </p:spPr>
        <p:txBody>
          <a:bodyPr wrap="square" anchor="t">
            <a:spAutoFit/>
          </a:bodyPr>
          <a:lstStyle/>
          <a:p>
            <a:pPr algn="l">
              <a:spcAft>
                <a:spcPts val="400"/>
              </a:spcAft>
            </a:pPr>
            <a:r>
              <a:rPr sz="1100" b="1">
                <a:solidFill>
                  <a:srgbClr val="FFFFFF"/>
                </a:solidFill>
                <a:latin typeface="Calibri"/>
              </a:rPr>
              <a:t>Seguridad, Errores y Control de Calidad</a:t>
            </a:r>
          </a:p>
        </p:txBody>
      </p:sp>
      <p:sp>
        <p:nvSpPr>
          <p:cNvPr id="48" name="Rounded Rectangle 47"/>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40080" y="8732520"/>
            <a:ext cx="1850315"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51" name="TextBox 50"/>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04  /  17</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RUTA DE APRENDIZAJE</a:t>
            </a:r>
          </a:p>
        </p:txBody>
      </p:sp>
      <p:sp>
        <p:nvSpPr>
          <p:cNvPr id="8" name="TextBox 7"/>
          <p:cNvSpPr txBox="1"/>
          <p:nvPr/>
        </p:nvSpPr>
        <p:spPr>
          <a:xfrm>
            <a:off x="502920" y="1234440"/>
            <a:ext cx="8138160" cy="914400"/>
          </a:xfrm>
          <a:prstGeom prst="rect">
            <a:avLst/>
          </a:prstGeom>
          <a:noFill/>
        </p:spPr>
        <p:txBody>
          <a:bodyPr wrap="square" anchor="t">
            <a:spAutoFit/>
          </a:bodyPr>
          <a:lstStyle/>
          <a:p>
            <a:pPr algn="l">
              <a:spcAft>
                <a:spcPts val="400"/>
              </a:spcAft>
            </a:pPr>
            <a:r>
              <a:rPr sz="2600" b="1">
                <a:solidFill>
                  <a:srgbClr val="FFFFFF"/>
                </a:solidFill>
                <a:latin typeface="Calibri"/>
              </a:rPr>
              <a:t>El mismo orden de un electromiografista</a:t>
            </a:r>
          </a:p>
        </p:txBody>
      </p:sp>
      <p:sp>
        <p:nvSpPr>
          <p:cNvPr id="9" name="Rounded Rectangle 8"/>
          <p:cNvSpPr/>
          <p:nvPr/>
        </p:nvSpPr>
        <p:spPr>
          <a:xfrm>
            <a:off x="502920" y="2331720"/>
            <a:ext cx="8138160" cy="120700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331720"/>
            <a:ext cx="109728" cy="1207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496312"/>
            <a:ext cx="7498079" cy="365760"/>
          </a:xfrm>
          <a:prstGeom prst="rect">
            <a:avLst/>
          </a:prstGeom>
          <a:noFill/>
        </p:spPr>
        <p:txBody>
          <a:bodyPr wrap="square" anchor="t">
            <a:spAutoFit/>
          </a:bodyPr>
          <a:lstStyle/>
          <a:p>
            <a:pPr algn="l">
              <a:spcAft>
                <a:spcPts val="400"/>
              </a:spcAft>
            </a:pPr>
            <a:r>
              <a:rPr sz="1800" b="1">
                <a:solidFill>
                  <a:srgbClr val="FFFFFF"/>
                </a:solidFill>
                <a:latin typeface="Calibri"/>
              </a:rPr>
              <a:t>01  Bases</a:t>
            </a:r>
          </a:p>
        </p:txBody>
      </p:sp>
      <p:sp>
        <p:nvSpPr>
          <p:cNvPr id="12" name="TextBox 11"/>
          <p:cNvSpPr txBox="1"/>
          <p:nvPr/>
        </p:nvSpPr>
        <p:spPr>
          <a:xfrm>
            <a:off x="868680" y="2898648"/>
            <a:ext cx="7498079" cy="457200"/>
          </a:xfrm>
          <a:prstGeom prst="rect">
            <a:avLst/>
          </a:prstGeom>
          <a:noFill/>
        </p:spPr>
        <p:txBody>
          <a:bodyPr wrap="square" anchor="t">
            <a:spAutoFit/>
          </a:bodyPr>
          <a:lstStyle/>
          <a:p>
            <a:pPr algn="l">
              <a:spcAft>
                <a:spcPts val="400"/>
              </a:spcAft>
            </a:pPr>
            <a:r>
              <a:rPr sz="1300" b="0">
                <a:solidFill>
                  <a:srgbClr val="CBD5E1"/>
                </a:solidFill>
                <a:latin typeface="Calibri"/>
              </a:rPr>
              <a:t>Electricidad, neuroanatomía funcional y fisiología de la contracción muscular.</a:t>
            </a:r>
          </a:p>
        </p:txBody>
      </p:sp>
      <p:sp>
        <p:nvSpPr>
          <p:cNvPr id="13" name="Rounded Rectangle 12"/>
          <p:cNvSpPr/>
          <p:nvPr/>
        </p:nvSpPr>
        <p:spPr>
          <a:xfrm>
            <a:off x="502920" y="3703320"/>
            <a:ext cx="8138160" cy="120700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703320"/>
            <a:ext cx="109728" cy="1207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867911"/>
            <a:ext cx="7498079" cy="365760"/>
          </a:xfrm>
          <a:prstGeom prst="rect">
            <a:avLst/>
          </a:prstGeom>
          <a:noFill/>
        </p:spPr>
        <p:txBody>
          <a:bodyPr wrap="square" anchor="t">
            <a:spAutoFit/>
          </a:bodyPr>
          <a:lstStyle/>
          <a:p>
            <a:pPr algn="l">
              <a:spcAft>
                <a:spcPts val="400"/>
              </a:spcAft>
            </a:pPr>
            <a:r>
              <a:rPr sz="1800" b="1">
                <a:solidFill>
                  <a:srgbClr val="FFFFFF"/>
                </a:solidFill>
                <a:latin typeface="Calibri"/>
              </a:rPr>
              <a:t>02  Técnicas</a:t>
            </a:r>
          </a:p>
        </p:txBody>
      </p:sp>
      <p:sp>
        <p:nvSpPr>
          <p:cNvPr id="16" name="TextBox 15"/>
          <p:cNvSpPr txBox="1"/>
          <p:nvPr/>
        </p:nvSpPr>
        <p:spPr>
          <a:xfrm>
            <a:off x="868680" y="4270248"/>
            <a:ext cx="7498079" cy="457200"/>
          </a:xfrm>
          <a:prstGeom prst="rect">
            <a:avLst/>
          </a:prstGeom>
          <a:noFill/>
        </p:spPr>
        <p:txBody>
          <a:bodyPr wrap="square" anchor="t">
            <a:spAutoFit/>
          </a:bodyPr>
          <a:lstStyle/>
          <a:p>
            <a:pPr algn="l">
              <a:spcAft>
                <a:spcPts val="400"/>
              </a:spcAft>
            </a:pPr>
            <a:r>
              <a:rPr sz="1300" b="0">
                <a:solidFill>
                  <a:srgbClr val="CBD5E1"/>
                </a:solidFill>
                <a:latin typeface="Calibri"/>
              </a:rPr>
              <a:t>NCS, EMG de aguja, respuestas tardías, estimulación repetitiva y potenciales evocados.</a:t>
            </a:r>
          </a:p>
        </p:txBody>
      </p:sp>
      <p:sp>
        <p:nvSpPr>
          <p:cNvPr id="17" name="Rounded Rectangle 16"/>
          <p:cNvSpPr/>
          <p:nvPr/>
        </p:nvSpPr>
        <p:spPr>
          <a:xfrm>
            <a:off x="502920" y="5074920"/>
            <a:ext cx="8138160" cy="120700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5074920"/>
            <a:ext cx="109728" cy="1207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239512"/>
            <a:ext cx="7498079" cy="365760"/>
          </a:xfrm>
          <a:prstGeom prst="rect">
            <a:avLst/>
          </a:prstGeom>
          <a:noFill/>
        </p:spPr>
        <p:txBody>
          <a:bodyPr wrap="square" anchor="t">
            <a:spAutoFit/>
          </a:bodyPr>
          <a:lstStyle/>
          <a:p>
            <a:pPr algn="l">
              <a:spcAft>
                <a:spcPts val="400"/>
              </a:spcAft>
            </a:pPr>
            <a:r>
              <a:rPr sz="1800" b="1">
                <a:solidFill>
                  <a:srgbClr val="FFFFFF"/>
                </a:solidFill>
                <a:latin typeface="Calibri"/>
              </a:rPr>
              <a:t>03  Anatomía</a:t>
            </a:r>
          </a:p>
        </p:txBody>
      </p:sp>
      <p:sp>
        <p:nvSpPr>
          <p:cNvPr id="20" name="TextBox 19"/>
          <p:cNvSpPr txBox="1"/>
          <p:nvPr/>
        </p:nvSpPr>
        <p:spPr>
          <a:xfrm>
            <a:off x="868680" y="5641848"/>
            <a:ext cx="7498079" cy="457200"/>
          </a:xfrm>
          <a:prstGeom prst="rect">
            <a:avLst/>
          </a:prstGeom>
          <a:noFill/>
        </p:spPr>
        <p:txBody>
          <a:bodyPr wrap="square" anchor="t">
            <a:spAutoFit/>
          </a:bodyPr>
          <a:lstStyle/>
          <a:p>
            <a:pPr algn="l">
              <a:spcAft>
                <a:spcPts val="400"/>
              </a:spcAft>
            </a:pPr>
            <a:r>
              <a:rPr sz="1300" b="0">
                <a:solidFill>
                  <a:srgbClr val="CBD5E1"/>
                </a:solidFill>
                <a:latin typeface="Calibri"/>
              </a:rPr>
              <a:t>Neuroconducción nervio por nervio. Aquí se resuelve la mayoría de los estudios reales.</a:t>
            </a:r>
          </a:p>
        </p:txBody>
      </p:sp>
      <p:sp>
        <p:nvSpPr>
          <p:cNvPr id="21" name="Rounded Rectangle 20"/>
          <p:cNvSpPr/>
          <p:nvPr/>
        </p:nvSpPr>
        <p:spPr>
          <a:xfrm>
            <a:off x="502920" y="6446520"/>
            <a:ext cx="8138160" cy="120700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6446520"/>
            <a:ext cx="109728" cy="1207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6611112"/>
            <a:ext cx="7498079" cy="365760"/>
          </a:xfrm>
          <a:prstGeom prst="rect">
            <a:avLst/>
          </a:prstGeom>
          <a:noFill/>
        </p:spPr>
        <p:txBody>
          <a:bodyPr wrap="square" anchor="t">
            <a:spAutoFit/>
          </a:bodyPr>
          <a:lstStyle/>
          <a:p>
            <a:pPr algn="l">
              <a:spcAft>
                <a:spcPts val="400"/>
              </a:spcAft>
            </a:pPr>
            <a:r>
              <a:rPr sz="1800" b="1">
                <a:solidFill>
                  <a:srgbClr val="FFFFFF"/>
                </a:solidFill>
                <a:latin typeface="Calibri"/>
              </a:rPr>
              <a:t>04  Clínica</a:t>
            </a:r>
          </a:p>
        </p:txBody>
      </p:sp>
      <p:sp>
        <p:nvSpPr>
          <p:cNvPr id="24" name="TextBox 23"/>
          <p:cNvSpPr txBox="1"/>
          <p:nvPr/>
        </p:nvSpPr>
        <p:spPr>
          <a:xfrm>
            <a:off x="868680" y="7013448"/>
            <a:ext cx="7498079" cy="457200"/>
          </a:xfrm>
          <a:prstGeom prst="rect">
            <a:avLst/>
          </a:prstGeom>
          <a:noFill/>
        </p:spPr>
        <p:txBody>
          <a:bodyPr wrap="square" anchor="t">
            <a:spAutoFit/>
          </a:bodyPr>
          <a:lstStyle/>
          <a:p>
            <a:pPr algn="l">
              <a:spcAft>
                <a:spcPts val="400"/>
              </a:spcAft>
            </a:pPr>
            <a:r>
              <a:rPr sz="1300" b="0">
                <a:solidFill>
                  <a:srgbClr val="CBD5E1"/>
                </a:solidFill>
                <a:latin typeface="Calibri"/>
              </a:rPr>
              <a:t>Patrones, algoritmos, tablas y control de calidad. El día que estés solo frente al paciente.</a:t>
            </a:r>
          </a:p>
        </p:txBody>
      </p:sp>
      <p:sp>
        <p:nvSpPr>
          <p:cNvPr id="25" name="Rounded Rectangle 24"/>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8732520"/>
            <a:ext cx="2312894"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28" name="TextBox 27"/>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05  /  17</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TU ACCESO</a:t>
            </a:r>
          </a:p>
        </p:txBody>
      </p:sp>
      <p:sp>
        <p:nvSpPr>
          <p:cNvPr id="8" name="TextBox 7"/>
          <p:cNvSpPr txBox="1"/>
          <p:nvPr/>
        </p:nvSpPr>
        <p:spPr>
          <a:xfrm>
            <a:off x="502920" y="1207008"/>
            <a:ext cx="8138160" cy="640080"/>
          </a:xfrm>
          <a:prstGeom prst="rect">
            <a:avLst/>
          </a:prstGeom>
          <a:noFill/>
        </p:spPr>
        <p:txBody>
          <a:bodyPr wrap="square" anchor="t">
            <a:spAutoFit/>
          </a:bodyPr>
          <a:lstStyle/>
          <a:p>
            <a:pPr algn="l">
              <a:spcAft>
                <a:spcPts val="400"/>
              </a:spcAft>
            </a:pPr>
            <a:r>
              <a:rPr sz="2800" b="1">
                <a:solidFill>
                  <a:srgbClr val="FFFFFF"/>
                </a:solidFill>
                <a:latin typeface="Calibri"/>
              </a:rPr>
              <a:t>Primero tu expediente médico</a:t>
            </a:r>
          </a:p>
        </p:txBody>
      </p:sp>
      <p:sp>
        <p:nvSpPr>
          <p:cNvPr id="9" name="Rounded Rectangle 8"/>
          <p:cNvSpPr/>
          <p:nvPr/>
        </p:nvSpPr>
        <p:spPr>
          <a:xfrm>
            <a:off x="457200" y="1965960"/>
            <a:ext cx="4160520" cy="5074920"/>
          </a:xfrm>
          <a:prstGeom prst="roundRect">
            <a:avLst>
              <a:gd name="adj" fmla="val 8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65960"/>
            <a:ext cx="4160520" cy="347472"/>
          </a:xfrm>
          <a:prstGeom prst="rect">
            <a:avLst/>
          </a:prstGeom>
          <a:solidFill>
            <a:srgbClr val="0D162C"/>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2075688"/>
            <a:ext cx="128016" cy="12801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75688"/>
            <a:ext cx="128016" cy="12801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2075688"/>
            <a:ext cx="128016" cy="12801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2020824"/>
            <a:ext cx="3337560" cy="256032"/>
          </a:xfrm>
          <a:prstGeom prst="rect">
            <a:avLst/>
          </a:prstGeom>
          <a:noFill/>
        </p:spPr>
        <p:txBody>
          <a:bodyPr wrap="square" anchor="t">
            <a:spAutoFit/>
          </a:bodyPr>
          <a:lstStyle/>
          <a:p>
            <a:pPr algn="l">
              <a:spcAft>
                <a:spcPts val="400"/>
              </a:spcAft>
            </a:pPr>
            <a:r>
              <a:rPr sz="900" b="0">
                <a:solidFill>
                  <a:srgbClr val="94A3B8"/>
                </a:solidFill>
                <a:latin typeface="Calibri"/>
              </a:rPr>
              <a:t>electodx.app/auth/registro</a:t>
            </a:r>
          </a:p>
        </p:txBody>
      </p:sp>
      <p:sp>
        <p:nvSpPr>
          <p:cNvPr id="15" name="TextBox 14"/>
          <p:cNvSpPr txBox="1"/>
          <p:nvPr/>
        </p:nvSpPr>
        <p:spPr>
          <a:xfrm>
            <a:off x="640080" y="2478024"/>
            <a:ext cx="3794760" cy="274320"/>
          </a:xfrm>
          <a:prstGeom prst="rect">
            <a:avLst/>
          </a:prstGeom>
          <a:noFill/>
        </p:spPr>
        <p:txBody>
          <a:bodyPr wrap="square" anchor="t">
            <a:spAutoFit/>
          </a:bodyPr>
          <a:lstStyle/>
          <a:p>
            <a:pPr algn="l">
              <a:spcAft>
                <a:spcPts val="400"/>
              </a:spcAft>
            </a:pPr>
            <a:r>
              <a:rPr sz="1000" b="1">
                <a:solidFill>
                  <a:srgbClr val="06B6D4"/>
                </a:solidFill>
                <a:latin typeface="Calibri"/>
              </a:rPr>
              <a:t>Paso 1 de 3  ·  Datos de cuenta</a:t>
            </a:r>
          </a:p>
        </p:txBody>
      </p:sp>
      <p:sp>
        <p:nvSpPr>
          <p:cNvPr id="16" name="TextBox 15"/>
          <p:cNvSpPr txBox="1"/>
          <p:nvPr/>
        </p:nvSpPr>
        <p:spPr>
          <a:xfrm>
            <a:off x="640080" y="2798064"/>
            <a:ext cx="3794760" cy="274320"/>
          </a:xfrm>
          <a:prstGeom prst="rect">
            <a:avLst/>
          </a:prstGeom>
          <a:noFill/>
        </p:spPr>
        <p:txBody>
          <a:bodyPr wrap="square" anchor="t">
            <a:spAutoFit/>
          </a:bodyPr>
          <a:lstStyle/>
          <a:p>
            <a:pPr algn="l">
              <a:spcAft>
                <a:spcPts val="400"/>
              </a:spcAft>
            </a:pPr>
            <a:r>
              <a:rPr sz="1200" b="1">
                <a:solidFill>
                  <a:srgbClr val="FFFFFF"/>
                </a:solidFill>
                <a:latin typeface="Calibri"/>
              </a:rPr>
              <a:t>Validación oficial SEP México</a:t>
            </a:r>
          </a:p>
        </p:txBody>
      </p:sp>
      <p:sp>
        <p:nvSpPr>
          <p:cNvPr id="17" name="Rounded Rectangle 16"/>
          <p:cNvSpPr/>
          <p:nvPr/>
        </p:nvSpPr>
        <p:spPr>
          <a:xfrm>
            <a:off x="640080" y="3209544"/>
            <a:ext cx="3794760" cy="1417320"/>
          </a:xfrm>
          <a:prstGeom prst="roundRect">
            <a:avLst>
              <a:gd name="adj" fmla="val 10000"/>
            </a:avLst>
          </a:prstGeom>
          <a:solidFill>
            <a:srgbClr val="16244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319272"/>
            <a:ext cx="3474720" cy="228600"/>
          </a:xfrm>
          <a:prstGeom prst="rect">
            <a:avLst/>
          </a:prstGeom>
          <a:noFill/>
        </p:spPr>
        <p:txBody>
          <a:bodyPr wrap="square" anchor="t">
            <a:spAutoFit/>
          </a:bodyPr>
          <a:lstStyle/>
          <a:p>
            <a:pPr algn="l">
              <a:spcAft>
                <a:spcPts val="400"/>
              </a:spcAft>
            </a:pPr>
            <a:r>
              <a:rPr sz="1000" b="0">
                <a:solidFill>
                  <a:srgbClr val="94A3B8"/>
                </a:solidFill>
                <a:latin typeface="Calibri"/>
              </a:rPr>
              <a:t>Cédula profesional</a:t>
            </a:r>
          </a:p>
        </p:txBody>
      </p:sp>
      <p:sp>
        <p:nvSpPr>
          <p:cNvPr id="19" name="Rounded Rectangle 18"/>
          <p:cNvSpPr/>
          <p:nvPr/>
        </p:nvSpPr>
        <p:spPr>
          <a:xfrm>
            <a:off x="804672" y="3593591"/>
            <a:ext cx="3474720" cy="347472"/>
          </a:xfrm>
          <a:prstGeom prst="roundRect">
            <a:avLst>
              <a:gd name="adj" fmla="val 8000"/>
            </a:avLst>
          </a:prstGeom>
          <a:solidFill>
            <a:srgbClr val="0B1329"/>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630168"/>
            <a:ext cx="3200400" cy="274320"/>
          </a:xfrm>
          <a:prstGeom prst="rect">
            <a:avLst/>
          </a:prstGeom>
          <a:noFill/>
        </p:spPr>
        <p:txBody>
          <a:bodyPr wrap="square" anchor="t">
            <a:spAutoFit/>
          </a:bodyPr>
          <a:lstStyle/>
          <a:p>
            <a:pPr algn="l">
              <a:spcAft>
                <a:spcPts val="400"/>
              </a:spcAft>
            </a:pPr>
            <a:r>
              <a:rPr sz="1200" b="0">
                <a:solidFill>
                  <a:srgbClr val="CBD5E1"/>
                </a:solidFill>
                <a:latin typeface="Calibri"/>
              </a:rPr>
              <a:t>12345678</a:t>
            </a:r>
          </a:p>
        </p:txBody>
      </p:sp>
      <p:sp>
        <p:nvSpPr>
          <p:cNvPr id="21" name="Rounded Rectangle 20"/>
          <p:cNvSpPr/>
          <p:nvPr/>
        </p:nvSpPr>
        <p:spPr>
          <a:xfrm>
            <a:off x="804672" y="4050791"/>
            <a:ext cx="3474720" cy="365760"/>
          </a:xfrm>
          <a:prstGeom prst="roundRect">
            <a:avLst>
              <a:gd name="adj" fmla="val 50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087368"/>
            <a:ext cx="3474720" cy="329184"/>
          </a:xfrm>
          <a:prstGeom prst="rect">
            <a:avLst/>
          </a:prstGeom>
          <a:noFill/>
        </p:spPr>
        <p:txBody>
          <a:bodyPr wrap="square" anchor="ctr">
            <a:spAutoFit/>
          </a:bodyPr>
          <a:lstStyle/>
          <a:p>
            <a:pPr algn="ctr">
              <a:spcAft>
                <a:spcPts val="400"/>
              </a:spcAft>
            </a:pPr>
            <a:r>
              <a:rPr sz="1100" b="1">
                <a:solidFill>
                  <a:srgbClr val="FFFFFF"/>
                </a:solidFill>
                <a:latin typeface="Calibri"/>
              </a:rPr>
              <a:t>Verificar cédula</a:t>
            </a:r>
          </a:p>
        </p:txBody>
      </p:sp>
      <p:sp>
        <p:nvSpPr>
          <p:cNvPr id="23" name="Rounded Rectangle 22"/>
          <p:cNvSpPr/>
          <p:nvPr/>
        </p:nvSpPr>
        <p:spPr>
          <a:xfrm>
            <a:off x="640080" y="4809744"/>
            <a:ext cx="3794760" cy="640080"/>
          </a:xfrm>
          <a:prstGeom prst="roundRect">
            <a:avLst>
              <a:gd name="adj" fmla="val 10000"/>
            </a:avLst>
          </a:prstGeom>
          <a:solidFill>
            <a:srgbClr val="0C3A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965192"/>
            <a:ext cx="3474720" cy="365760"/>
          </a:xfrm>
          <a:prstGeom prst="rect">
            <a:avLst/>
          </a:prstGeom>
          <a:noFill/>
        </p:spPr>
        <p:txBody>
          <a:bodyPr wrap="square" anchor="t">
            <a:spAutoFit/>
          </a:bodyPr>
          <a:lstStyle/>
          <a:p>
            <a:pPr algn="l">
              <a:spcAft>
                <a:spcPts val="400"/>
              </a:spcAft>
            </a:pPr>
            <a:r>
              <a:rPr sz="1200" b="1">
                <a:solidFill>
                  <a:srgbClr val="34D399"/>
                </a:solidFill>
                <a:latin typeface="Calibri"/>
              </a:rPr>
              <a:t>Cédula verificada oficialmente</a:t>
            </a:r>
          </a:p>
        </p:txBody>
      </p:sp>
      <p:sp>
        <p:nvSpPr>
          <p:cNvPr id="25" name="Rounded Rectangle 24"/>
          <p:cNvSpPr/>
          <p:nvPr/>
        </p:nvSpPr>
        <p:spPr>
          <a:xfrm>
            <a:off x="4800600" y="1965960"/>
            <a:ext cx="3886200" cy="155448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83480" y="2130552"/>
            <a:ext cx="3566160" cy="320040"/>
          </a:xfrm>
          <a:prstGeom prst="rect">
            <a:avLst/>
          </a:prstGeom>
          <a:noFill/>
        </p:spPr>
        <p:txBody>
          <a:bodyPr wrap="square" anchor="t">
            <a:spAutoFit/>
          </a:bodyPr>
          <a:lstStyle/>
          <a:p>
            <a:pPr algn="l">
              <a:spcAft>
                <a:spcPts val="400"/>
              </a:spcAft>
            </a:pPr>
            <a:r>
              <a:rPr sz="1400" b="1">
                <a:solidFill>
                  <a:srgbClr val="06B6D4"/>
                </a:solidFill>
                <a:latin typeface="Calibri"/>
              </a:rPr>
              <a:t>Cédula SEP</a:t>
            </a:r>
          </a:p>
        </p:txBody>
      </p:sp>
      <p:sp>
        <p:nvSpPr>
          <p:cNvPr id="27" name="TextBox 26"/>
          <p:cNvSpPr txBox="1"/>
          <p:nvPr/>
        </p:nvSpPr>
        <p:spPr>
          <a:xfrm>
            <a:off x="4983480" y="2468880"/>
            <a:ext cx="3566160" cy="868680"/>
          </a:xfrm>
          <a:prstGeom prst="rect">
            <a:avLst/>
          </a:prstGeom>
          <a:noFill/>
        </p:spPr>
        <p:txBody>
          <a:bodyPr wrap="square" anchor="t">
            <a:spAutoFit/>
          </a:bodyPr>
          <a:lstStyle/>
          <a:p>
            <a:pPr algn="l">
              <a:spcAft>
                <a:spcPts val="400"/>
              </a:spcAft>
            </a:pPr>
            <a:r>
              <a:rPr sz="1200" b="0">
                <a:solidFill>
                  <a:srgbClr val="CBD5E1"/>
                </a:solidFill>
                <a:latin typeface="Calibri"/>
              </a:rPr>
              <a:t>Opcional al registrarte si eres R1 o está en trámite. Obligatoria para emitir la constancia.</a:t>
            </a:r>
          </a:p>
        </p:txBody>
      </p:sp>
      <p:sp>
        <p:nvSpPr>
          <p:cNvPr id="28" name="Rounded Rectangle 27"/>
          <p:cNvSpPr/>
          <p:nvPr/>
        </p:nvSpPr>
        <p:spPr>
          <a:xfrm>
            <a:off x="4800600" y="3657600"/>
            <a:ext cx="3886200" cy="155448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83480" y="3822191"/>
            <a:ext cx="3566160" cy="320040"/>
          </a:xfrm>
          <a:prstGeom prst="rect">
            <a:avLst/>
          </a:prstGeom>
          <a:noFill/>
        </p:spPr>
        <p:txBody>
          <a:bodyPr wrap="square" anchor="t">
            <a:spAutoFit/>
          </a:bodyPr>
          <a:lstStyle/>
          <a:p>
            <a:pPr algn="l">
              <a:spcAft>
                <a:spcPts val="400"/>
              </a:spcAft>
            </a:pPr>
            <a:r>
              <a:rPr sz="1400" b="1">
                <a:solidFill>
                  <a:srgbClr val="06B6D4"/>
                </a:solidFill>
                <a:latin typeface="Calibri"/>
              </a:rPr>
              <a:t>Perfil formativo</a:t>
            </a:r>
          </a:p>
        </p:txBody>
      </p:sp>
      <p:sp>
        <p:nvSpPr>
          <p:cNvPr id="30" name="TextBox 29"/>
          <p:cNvSpPr txBox="1"/>
          <p:nvPr/>
        </p:nvSpPr>
        <p:spPr>
          <a:xfrm>
            <a:off x="4983480" y="4160520"/>
            <a:ext cx="3566160" cy="868680"/>
          </a:xfrm>
          <a:prstGeom prst="rect">
            <a:avLst/>
          </a:prstGeom>
          <a:noFill/>
        </p:spPr>
        <p:txBody>
          <a:bodyPr wrap="square" anchor="t">
            <a:spAutoFit/>
          </a:bodyPr>
          <a:lstStyle/>
          <a:p>
            <a:pPr algn="l">
              <a:spcAft>
                <a:spcPts val="400"/>
              </a:spcAft>
            </a:pPr>
            <a:r>
              <a:rPr sz="1200" b="0">
                <a:solidFill>
                  <a:srgbClr val="CBD5E1"/>
                </a:solidFill>
                <a:latin typeface="Calibri"/>
              </a:rPr>
              <a:t>Residente de rehabilitación, especialista, neurofisiólogo o médico de especialidad afín.</a:t>
            </a:r>
          </a:p>
        </p:txBody>
      </p:sp>
      <p:sp>
        <p:nvSpPr>
          <p:cNvPr id="31" name="Rounded Rectangle 30"/>
          <p:cNvSpPr/>
          <p:nvPr/>
        </p:nvSpPr>
        <p:spPr>
          <a:xfrm>
            <a:off x="4800600" y="5349240"/>
            <a:ext cx="3886200" cy="155448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83480" y="5513831"/>
            <a:ext cx="3566160" cy="320040"/>
          </a:xfrm>
          <a:prstGeom prst="rect">
            <a:avLst/>
          </a:prstGeom>
          <a:noFill/>
        </p:spPr>
        <p:txBody>
          <a:bodyPr wrap="square" anchor="t">
            <a:spAutoFit/>
          </a:bodyPr>
          <a:lstStyle/>
          <a:p>
            <a:pPr algn="l">
              <a:spcAft>
                <a:spcPts val="400"/>
              </a:spcAft>
            </a:pPr>
            <a:r>
              <a:rPr sz="1400" b="1">
                <a:solidFill>
                  <a:srgbClr val="06B6D4"/>
                </a:solidFill>
                <a:latin typeface="Calibri"/>
              </a:rPr>
              <a:t>Admisión</a:t>
            </a:r>
          </a:p>
        </p:txBody>
      </p:sp>
      <p:sp>
        <p:nvSpPr>
          <p:cNvPr id="33" name="TextBox 32"/>
          <p:cNvSpPr txBox="1"/>
          <p:nvPr/>
        </p:nvSpPr>
        <p:spPr>
          <a:xfrm>
            <a:off x="4983480" y="5852159"/>
            <a:ext cx="3566160" cy="868680"/>
          </a:xfrm>
          <a:prstGeom prst="rect">
            <a:avLst/>
          </a:prstGeom>
          <a:noFill/>
        </p:spPr>
        <p:txBody>
          <a:bodyPr wrap="square" anchor="t">
            <a:spAutoFit/>
          </a:bodyPr>
          <a:lstStyle/>
          <a:p>
            <a:pPr algn="l">
              <a:spcAft>
                <a:spcPts val="400"/>
              </a:spcAft>
            </a:pPr>
            <a:r>
              <a:rPr sz="1200" b="0">
                <a:solidFill>
                  <a:srgbClr val="CBD5E1"/>
                </a:solidFill>
                <a:latin typeface="Calibri"/>
              </a:rPr>
              <a:t>Tras el registro, tu expediente pasa a revisión. Mientras dice “En espera de admisión” ves el temario, no los módulos.</a:t>
            </a:r>
          </a:p>
        </p:txBody>
      </p:sp>
      <p:sp>
        <p:nvSpPr>
          <p:cNvPr id="34" name="Rounded Rectangle 33"/>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080" y="8732520"/>
            <a:ext cx="2775472"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37" name="TextBox 36"/>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06  /  17</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CÓMO TE MUEVES</a:t>
            </a:r>
          </a:p>
        </p:txBody>
      </p:sp>
      <p:sp>
        <p:nvSpPr>
          <p:cNvPr id="8" name="TextBox 7"/>
          <p:cNvSpPr txBox="1"/>
          <p:nvPr/>
        </p:nvSpPr>
        <p:spPr>
          <a:xfrm>
            <a:off x="502920" y="1207008"/>
            <a:ext cx="8138160" cy="548640"/>
          </a:xfrm>
          <a:prstGeom prst="rect">
            <a:avLst/>
          </a:prstGeom>
          <a:noFill/>
        </p:spPr>
        <p:txBody>
          <a:bodyPr wrap="square" anchor="t">
            <a:spAutoFit/>
          </a:bodyPr>
          <a:lstStyle/>
          <a:p>
            <a:pPr algn="l">
              <a:spcAft>
                <a:spcPts val="400"/>
              </a:spcAft>
            </a:pPr>
            <a:r>
              <a:rPr sz="2800" b="1">
                <a:solidFill>
                  <a:srgbClr val="FFFFFF"/>
                </a:solidFill>
                <a:latin typeface="Calibri"/>
              </a:rPr>
              <a:t>Cinco puertas, un mismo techo</a:t>
            </a:r>
          </a:p>
        </p:txBody>
      </p:sp>
      <p:sp>
        <p:nvSpPr>
          <p:cNvPr id="9" name="Rounded Rectangle 8"/>
          <p:cNvSpPr/>
          <p:nvPr/>
        </p:nvSpPr>
        <p:spPr>
          <a:xfrm>
            <a:off x="457200" y="1920240"/>
            <a:ext cx="8229600" cy="1417320"/>
          </a:xfrm>
          <a:prstGeom prst="roundRect">
            <a:avLst>
              <a:gd name="adj" fmla="val 8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20240"/>
            <a:ext cx="8229600" cy="347472"/>
          </a:xfrm>
          <a:prstGeom prst="rect">
            <a:avLst/>
          </a:prstGeom>
          <a:solidFill>
            <a:srgbClr val="0D162C"/>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2029968"/>
            <a:ext cx="128016" cy="12801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29968"/>
            <a:ext cx="128016" cy="12801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2029968"/>
            <a:ext cx="128016" cy="12801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1975104"/>
            <a:ext cx="7406640" cy="256032"/>
          </a:xfrm>
          <a:prstGeom prst="rect">
            <a:avLst/>
          </a:prstGeom>
          <a:noFill/>
        </p:spPr>
        <p:txBody>
          <a:bodyPr wrap="square" anchor="t">
            <a:spAutoFit/>
          </a:bodyPr>
          <a:lstStyle/>
          <a:p>
            <a:pPr algn="l">
              <a:spcAft>
                <a:spcPts val="400"/>
              </a:spcAft>
            </a:pPr>
            <a:r>
              <a:rPr sz="900" b="0">
                <a:solidFill>
                  <a:srgbClr val="94A3B8"/>
                </a:solidFill>
                <a:latin typeface="Calibri"/>
              </a:rPr>
              <a:t>electodx.app</a:t>
            </a:r>
          </a:p>
        </p:txBody>
      </p:sp>
      <p:sp>
        <p:nvSpPr>
          <p:cNvPr id="15" name="Rounded Rectangle 14"/>
          <p:cNvSpPr/>
          <p:nvPr/>
        </p:nvSpPr>
        <p:spPr>
          <a:xfrm>
            <a:off x="640080" y="2596896"/>
            <a:ext cx="1463040" cy="347472"/>
          </a:xfrm>
          <a:prstGeom prst="roundRect">
            <a:avLst>
              <a:gd name="adj" fmla="val 50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633472"/>
            <a:ext cx="1463040" cy="310896"/>
          </a:xfrm>
          <a:prstGeom prst="rect">
            <a:avLst/>
          </a:prstGeom>
          <a:noFill/>
        </p:spPr>
        <p:txBody>
          <a:bodyPr wrap="square" anchor="ctr">
            <a:spAutoFit/>
          </a:bodyPr>
          <a:lstStyle/>
          <a:p>
            <a:pPr algn="ctr">
              <a:spcAft>
                <a:spcPts val="400"/>
              </a:spcAft>
            </a:pPr>
            <a:r>
              <a:rPr sz="1100" b="1">
                <a:solidFill>
                  <a:srgbClr val="FFFFFF"/>
                </a:solidFill>
                <a:latin typeface="Calibri"/>
              </a:rPr>
              <a:t>Temario</a:t>
            </a:r>
          </a:p>
        </p:txBody>
      </p:sp>
      <p:sp>
        <p:nvSpPr>
          <p:cNvPr id="17" name="Rounded Rectangle 16"/>
          <p:cNvSpPr/>
          <p:nvPr/>
        </p:nvSpPr>
        <p:spPr>
          <a:xfrm>
            <a:off x="2212848" y="2596896"/>
            <a:ext cx="1463040" cy="347472"/>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12848" y="2633472"/>
            <a:ext cx="1463040" cy="310896"/>
          </a:xfrm>
          <a:prstGeom prst="rect">
            <a:avLst/>
          </a:prstGeom>
          <a:noFill/>
        </p:spPr>
        <p:txBody>
          <a:bodyPr wrap="square" anchor="ctr">
            <a:spAutoFit/>
          </a:bodyPr>
          <a:lstStyle/>
          <a:p>
            <a:pPr algn="ctr">
              <a:spcAft>
                <a:spcPts val="400"/>
              </a:spcAft>
            </a:pPr>
            <a:r>
              <a:rPr sz="1100" b="1">
                <a:solidFill>
                  <a:srgbClr val="FFFFFF"/>
                </a:solidFill>
                <a:latin typeface="Calibri"/>
              </a:rPr>
              <a:t>Simuladores  PRO</a:t>
            </a:r>
          </a:p>
        </p:txBody>
      </p:sp>
      <p:sp>
        <p:nvSpPr>
          <p:cNvPr id="19" name="Rounded Rectangle 18"/>
          <p:cNvSpPr/>
          <p:nvPr/>
        </p:nvSpPr>
        <p:spPr>
          <a:xfrm>
            <a:off x="3785615" y="2596896"/>
            <a:ext cx="1463040" cy="347472"/>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5615" y="2633472"/>
            <a:ext cx="1463040" cy="310896"/>
          </a:xfrm>
          <a:prstGeom prst="rect">
            <a:avLst/>
          </a:prstGeom>
          <a:noFill/>
        </p:spPr>
        <p:txBody>
          <a:bodyPr wrap="square" anchor="ctr">
            <a:spAutoFit/>
          </a:bodyPr>
          <a:lstStyle/>
          <a:p>
            <a:pPr algn="ctr">
              <a:spcAft>
                <a:spcPts val="400"/>
              </a:spcAft>
            </a:pPr>
            <a:r>
              <a:rPr sz="1100" b="1">
                <a:solidFill>
                  <a:srgbClr val="FFFFFF"/>
                </a:solidFill>
                <a:latin typeface="Calibri"/>
              </a:rPr>
              <a:t>Exámenes</a:t>
            </a:r>
          </a:p>
        </p:txBody>
      </p:sp>
      <p:sp>
        <p:nvSpPr>
          <p:cNvPr id="21" name="Rounded Rectangle 20"/>
          <p:cNvSpPr/>
          <p:nvPr/>
        </p:nvSpPr>
        <p:spPr>
          <a:xfrm>
            <a:off x="5358384" y="2596896"/>
            <a:ext cx="1463040" cy="347472"/>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58384" y="2633472"/>
            <a:ext cx="1463040" cy="310896"/>
          </a:xfrm>
          <a:prstGeom prst="rect">
            <a:avLst/>
          </a:prstGeom>
          <a:noFill/>
        </p:spPr>
        <p:txBody>
          <a:bodyPr wrap="square" anchor="ctr">
            <a:spAutoFit/>
          </a:bodyPr>
          <a:lstStyle/>
          <a:p>
            <a:pPr algn="ctr">
              <a:spcAft>
                <a:spcPts val="400"/>
              </a:spcAft>
            </a:pPr>
            <a:r>
              <a:rPr sz="1100" b="1">
                <a:solidFill>
                  <a:srgbClr val="FFFFFF"/>
                </a:solidFill>
                <a:latin typeface="Calibri"/>
              </a:rPr>
              <a:t>Currículo</a:t>
            </a:r>
          </a:p>
        </p:txBody>
      </p:sp>
      <p:sp>
        <p:nvSpPr>
          <p:cNvPr id="23" name="Rounded Rectangle 22"/>
          <p:cNvSpPr/>
          <p:nvPr/>
        </p:nvSpPr>
        <p:spPr>
          <a:xfrm>
            <a:off x="6931152" y="2596896"/>
            <a:ext cx="1463040" cy="347472"/>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1152" y="2633472"/>
            <a:ext cx="1463040" cy="310896"/>
          </a:xfrm>
          <a:prstGeom prst="rect">
            <a:avLst/>
          </a:prstGeom>
          <a:noFill/>
        </p:spPr>
        <p:txBody>
          <a:bodyPr wrap="square" anchor="ctr">
            <a:spAutoFit/>
          </a:bodyPr>
          <a:lstStyle/>
          <a:p>
            <a:pPr algn="ctr">
              <a:spcAft>
                <a:spcPts val="400"/>
              </a:spcAft>
            </a:pPr>
            <a:r>
              <a:rPr sz="1100" b="1">
                <a:solidFill>
                  <a:srgbClr val="FFFFFF"/>
                </a:solidFill>
                <a:latin typeface="Calibri"/>
              </a:rPr>
              <a:t>Mi Portal</a:t>
            </a:r>
          </a:p>
        </p:txBody>
      </p:sp>
      <p:sp>
        <p:nvSpPr>
          <p:cNvPr id="25" name="Rounded Rectangle 24"/>
          <p:cNvSpPr/>
          <p:nvPr/>
        </p:nvSpPr>
        <p:spPr>
          <a:xfrm>
            <a:off x="457200" y="3566160"/>
            <a:ext cx="3977639" cy="118872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749039"/>
            <a:ext cx="3611879" cy="320040"/>
          </a:xfrm>
          <a:prstGeom prst="rect">
            <a:avLst/>
          </a:prstGeom>
          <a:noFill/>
        </p:spPr>
        <p:txBody>
          <a:bodyPr wrap="square" anchor="t">
            <a:spAutoFit/>
          </a:bodyPr>
          <a:lstStyle/>
          <a:p>
            <a:pPr algn="l">
              <a:spcAft>
                <a:spcPts val="400"/>
              </a:spcAft>
            </a:pPr>
            <a:r>
              <a:rPr sz="1600" b="1">
                <a:solidFill>
                  <a:srgbClr val="FFFFFF"/>
                </a:solidFill>
                <a:latin typeface="Calibri"/>
              </a:rPr>
              <a:t>Temario</a:t>
            </a:r>
          </a:p>
        </p:txBody>
      </p:sp>
      <p:sp>
        <p:nvSpPr>
          <p:cNvPr id="27" name="TextBox 26"/>
          <p:cNvSpPr txBox="1"/>
          <p:nvPr/>
        </p:nvSpPr>
        <p:spPr>
          <a:xfrm>
            <a:off x="658368" y="4114800"/>
            <a:ext cx="3611879" cy="457200"/>
          </a:xfrm>
          <a:prstGeom prst="rect">
            <a:avLst/>
          </a:prstGeom>
          <a:noFill/>
        </p:spPr>
        <p:txBody>
          <a:bodyPr wrap="square" anchor="t">
            <a:spAutoFit/>
          </a:bodyPr>
          <a:lstStyle/>
          <a:p>
            <a:pPr algn="l">
              <a:spcAft>
                <a:spcPts val="400"/>
              </a:spcAft>
            </a:pPr>
            <a:r>
              <a:rPr sz="1300" b="0">
                <a:solidFill>
                  <a:srgbClr val="CBD5E1"/>
                </a:solidFill>
                <a:latin typeface="Calibri"/>
              </a:rPr>
              <a:t>Índice completo del programa. Tu mapa general.</a:t>
            </a:r>
          </a:p>
        </p:txBody>
      </p:sp>
      <p:sp>
        <p:nvSpPr>
          <p:cNvPr id="28" name="Rounded Rectangle 27"/>
          <p:cNvSpPr/>
          <p:nvPr/>
        </p:nvSpPr>
        <p:spPr>
          <a:xfrm>
            <a:off x="4617720" y="3566160"/>
            <a:ext cx="3977639" cy="118872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18888" y="3749039"/>
            <a:ext cx="3611879" cy="320040"/>
          </a:xfrm>
          <a:prstGeom prst="rect">
            <a:avLst/>
          </a:prstGeom>
          <a:noFill/>
        </p:spPr>
        <p:txBody>
          <a:bodyPr wrap="square" anchor="t">
            <a:spAutoFit/>
          </a:bodyPr>
          <a:lstStyle/>
          <a:p>
            <a:pPr algn="l">
              <a:spcAft>
                <a:spcPts val="400"/>
              </a:spcAft>
            </a:pPr>
            <a:r>
              <a:rPr sz="1600" b="1">
                <a:solidFill>
                  <a:srgbClr val="FFFFFF"/>
                </a:solidFill>
                <a:latin typeface="Calibri"/>
              </a:rPr>
              <a:t>Currículo</a:t>
            </a:r>
          </a:p>
        </p:txBody>
      </p:sp>
      <p:sp>
        <p:nvSpPr>
          <p:cNvPr id="30" name="TextBox 29"/>
          <p:cNvSpPr txBox="1"/>
          <p:nvPr/>
        </p:nvSpPr>
        <p:spPr>
          <a:xfrm>
            <a:off x="4818888" y="4114800"/>
            <a:ext cx="3611879" cy="457200"/>
          </a:xfrm>
          <a:prstGeom prst="rect">
            <a:avLst/>
          </a:prstGeom>
          <a:noFill/>
        </p:spPr>
        <p:txBody>
          <a:bodyPr wrap="square" anchor="t">
            <a:spAutoFit/>
          </a:bodyPr>
          <a:lstStyle/>
          <a:p>
            <a:pPr algn="l">
              <a:spcAft>
                <a:spcPts val="400"/>
              </a:spcAft>
            </a:pPr>
            <a:r>
              <a:rPr sz="1300" b="0">
                <a:solidFill>
                  <a:srgbClr val="CBD5E1"/>
                </a:solidFill>
                <a:latin typeface="Calibri"/>
              </a:rPr>
              <a:t>El árbol de 13 módulos. Úsalo todos los días. Tiene buscador.</a:t>
            </a:r>
          </a:p>
        </p:txBody>
      </p:sp>
      <p:sp>
        <p:nvSpPr>
          <p:cNvPr id="31" name="Rounded Rectangle 30"/>
          <p:cNvSpPr/>
          <p:nvPr/>
        </p:nvSpPr>
        <p:spPr>
          <a:xfrm>
            <a:off x="457200" y="4892040"/>
            <a:ext cx="3977639" cy="118872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074920"/>
            <a:ext cx="3611879" cy="320040"/>
          </a:xfrm>
          <a:prstGeom prst="rect">
            <a:avLst/>
          </a:prstGeom>
          <a:noFill/>
        </p:spPr>
        <p:txBody>
          <a:bodyPr wrap="square" anchor="t">
            <a:spAutoFit/>
          </a:bodyPr>
          <a:lstStyle/>
          <a:p>
            <a:pPr algn="l">
              <a:spcAft>
                <a:spcPts val="400"/>
              </a:spcAft>
            </a:pPr>
            <a:r>
              <a:rPr sz="1600" b="1">
                <a:solidFill>
                  <a:srgbClr val="FFFFFF"/>
                </a:solidFill>
                <a:latin typeface="Calibri"/>
              </a:rPr>
              <a:t>Exámenes</a:t>
            </a:r>
          </a:p>
        </p:txBody>
      </p:sp>
      <p:sp>
        <p:nvSpPr>
          <p:cNvPr id="33" name="TextBox 32"/>
          <p:cNvSpPr txBox="1"/>
          <p:nvPr/>
        </p:nvSpPr>
        <p:spPr>
          <a:xfrm>
            <a:off x="658368" y="5440679"/>
            <a:ext cx="3611879" cy="457200"/>
          </a:xfrm>
          <a:prstGeom prst="rect">
            <a:avLst/>
          </a:prstGeom>
          <a:noFill/>
        </p:spPr>
        <p:txBody>
          <a:bodyPr wrap="square" anchor="t">
            <a:spAutoFit/>
          </a:bodyPr>
          <a:lstStyle/>
          <a:p>
            <a:pPr algn="l">
              <a:spcAft>
                <a:spcPts val="400"/>
              </a:spcAft>
            </a:pPr>
            <a:r>
              <a:rPr sz="1300" b="0">
                <a:solidFill>
                  <a:srgbClr val="CBD5E1"/>
                </a:solidFill>
                <a:latin typeface="Calibri"/>
              </a:rPr>
              <a:t>Simulacros tipo consejo, con o sin cronómetro.</a:t>
            </a:r>
          </a:p>
        </p:txBody>
      </p:sp>
      <p:sp>
        <p:nvSpPr>
          <p:cNvPr id="34" name="Rounded Rectangle 33"/>
          <p:cNvSpPr/>
          <p:nvPr/>
        </p:nvSpPr>
        <p:spPr>
          <a:xfrm>
            <a:off x="4617720" y="4892040"/>
            <a:ext cx="3977639" cy="118872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18888" y="5074920"/>
            <a:ext cx="3611879" cy="320040"/>
          </a:xfrm>
          <a:prstGeom prst="rect">
            <a:avLst/>
          </a:prstGeom>
          <a:noFill/>
        </p:spPr>
        <p:txBody>
          <a:bodyPr wrap="square" anchor="t">
            <a:spAutoFit/>
          </a:bodyPr>
          <a:lstStyle/>
          <a:p>
            <a:pPr algn="l">
              <a:spcAft>
                <a:spcPts val="400"/>
              </a:spcAft>
            </a:pPr>
            <a:r>
              <a:rPr sz="1600" b="1">
                <a:solidFill>
                  <a:srgbClr val="FFFFFF"/>
                </a:solidFill>
                <a:latin typeface="Calibri"/>
              </a:rPr>
              <a:t>Simuladores</a:t>
            </a:r>
          </a:p>
        </p:txBody>
      </p:sp>
      <p:sp>
        <p:nvSpPr>
          <p:cNvPr id="36" name="TextBox 35"/>
          <p:cNvSpPr txBox="1"/>
          <p:nvPr/>
        </p:nvSpPr>
        <p:spPr>
          <a:xfrm>
            <a:off x="4818888" y="5440679"/>
            <a:ext cx="3611879" cy="457200"/>
          </a:xfrm>
          <a:prstGeom prst="rect">
            <a:avLst/>
          </a:prstGeom>
          <a:noFill/>
        </p:spPr>
        <p:txBody>
          <a:bodyPr wrap="square" anchor="t">
            <a:spAutoFit/>
          </a:bodyPr>
          <a:lstStyle/>
          <a:p>
            <a:pPr algn="l">
              <a:spcAft>
                <a:spcPts val="400"/>
              </a:spcAft>
            </a:pPr>
            <a:r>
              <a:rPr sz="1300" b="0">
                <a:solidFill>
                  <a:srgbClr val="CBD5E1"/>
                </a:solidFill>
                <a:latin typeface="Calibri"/>
              </a:rPr>
              <a:t>Práctica interactiva: plexo, casos, trazos.</a:t>
            </a:r>
          </a:p>
        </p:txBody>
      </p:sp>
      <p:sp>
        <p:nvSpPr>
          <p:cNvPr id="37" name="Rounded Rectangle 36"/>
          <p:cNvSpPr/>
          <p:nvPr/>
        </p:nvSpPr>
        <p:spPr>
          <a:xfrm>
            <a:off x="457200" y="6355080"/>
            <a:ext cx="8229600" cy="118872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6537960"/>
            <a:ext cx="7863840" cy="320040"/>
          </a:xfrm>
          <a:prstGeom prst="rect">
            <a:avLst/>
          </a:prstGeom>
          <a:noFill/>
        </p:spPr>
        <p:txBody>
          <a:bodyPr wrap="square" anchor="t">
            <a:spAutoFit/>
          </a:bodyPr>
          <a:lstStyle/>
          <a:p>
            <a:pPr algn="l">
              <a:spcAft>
                <a:spcPts val="400"/>
              </a:spcAft>
            </a:pPr>
            <a:r>
              <a:rPr sz="1600" b="1">
                <a:solidFill>
                  <a:srgbClr val="FFFFFF"/>
                </a:solidFill>
                <a:latin typeface="Calibri"/>
              </a:rPr>
              <a:t>Mi Portal</a:t>
            </a:r>
          </a:p>
        </p:txBody>
      </p:sp>
      <p:sp>
        <p:nvSpPr>
          <p:cNvPr id="39" name="TextBox 38"/>
          <p:cNvSpPr txBox="1"/>
          <p:nvPr/>
        </p:nvSpPr>
        <p:spPr>
          <a:xfrm>
            <a:off x="658368" y="6903720"/>
            <a:ext cx="7863840" cy="457200"/>
          </a:xfrm>
          <a:prstGeom prst="rect">
            <a:avLst/>
          </a:prstGeom>
          <a:noFill/>
        </p:spPr>
        <p:txBody>
          <a:bodyPr wrap="square" anchor="t">
            <a:spAutoFit/>
          </a:bodyPr>
          <a:lstStyle/>
          <a:p>
            <a:pPr algn="l">
              <a:spcAft>
                <a:spcPts val="400"/>
              </a:spcAft>
            </a:pPr>
            <a:r>
              <a:rPr sz="1300" b="0">
                <a:solidFill>
                  <a:srgbClr val="CBD5E1"/>
                </a:solidFill>
                <a:latin typeface="Calibri"/>
              </a:rPr>
              <a:t>Tu casa: progreso, tareas, constancia y estudio.</a:t>
            </a:r>
          </a:p>
        </p:txBody>
      </p:sp>
      <p:sp>
        <p:nvSpPr>
          <p:cNvPr id="40" name="Rounded Rectangle 39"/>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40080" y="8732520"/>
            <a:ext cx="3238051"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43" name="TextBox 42"/>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07  /  17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MI PORTAL</a:t>
            </a:r>
          </a:p>
        </p:txBody>
      </p:sp>
      <p:sp>
        <p:nvSpPr>
          <p:cNvPr id="8" name="TextBox 7"/>
          <p:cNvSpPr txBox="1"/>
          <p:nvPr/>
        </p:nvSpPr>
        <p:spPr>
          <a:xfrm>
            <a:off x="502920" y="1207008"/>
            <a:ext cx="8138160" cy="502920"/>
          </a:xfrm>
          <a:prstGeom prst="rect">
            <a:avLst/>
          </a:prstGeom>
          <a:noFill/>
        </p:spPr>
        <p:txBody>
          <a:bodyPr wrap="square" anchor="t">
            <a:spAutoFit/>
          </a:bodyPr>
          <a:lstStyle/>
          <a:p>
            <a:pPr algn="l">
              <a:spcAft>
                <a:spcPts val="400"/>
              </a:spcAft>
            </a:pPr>
            <a:r>
              <a:rPr sz="2800" b="1">
                <a:solidFill>
                  <a:srgbClr val="FFFFFF"/>
                </a:solidFill>
                <a:latin typeface="Calibri"/>
              </a:rPr>
              <a:t>Empieza siempre aquí</a:t>
            </a:r>
          </a:p>
        </p:txBody>
      </p:sp>
      <p:sp>
        <p:nvSpPr>
          <p:cNvPr id="9" name="Rounded Rectangle 8"/>
          <p:cNvSpPr/>
          <p:nvPr/>
        </p:nvSpPr>
        <p:spPr>
          <a:xfrm>
            <a:off x="457200" y="1828800"/>
            <a:ext cx="8229600" cy="6355080"/>
          </a:xfrm>
          <a:prstGeom prst="roundRect">
            <a:avLst>
              <a:gd name="adj" fmla="val 8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8229600" cy="347472"/>
          </a:xfrm>
          <a:prstGeom prst="rect">
            <a:avLst/>
          </a:prstGeom>
          <a:solidFill>
            <a:srgbClr val="0D162C"/>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938528"/>
            <a:ext cx="128016" cy="12801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1938528"/>
            <a:ext cx="128016" cy="12801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1938528"/>
            <a:ext cx="128016" cy="12801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1883664"/>
            <a:ext cx="7406640" cy="256032"/>
          </a:xfrm>
          <a:prstGeom prst="rect">
            <a:avLst/>
          </a:prstGeom>
          <a:noFill/>
        </p:spPr>
        <p:txBody>
          <a:bodyPr wrap="square" anchor="t">
            <a:spAutoFit/>
          </a:bodyPr>
          <a:lstStyle/>
          <a:p>
            <a:pPr algn="l">
              <a:spcAft>
                <a:spcPts val="400"/>
              </a:spcAft>
            </a:pPr>
            <a:r>
              <a:rPr sz="900" b="0">
                <a:solidFill>
                  <a:srgbClr val="94A3B8"/>
                </a:solidFill>
                <a:latin typeface="Calibri"/>
              </a:rPr>
              <a:t>electodx.app/portal</a:t>
            </a:r>
          </a:p>
        </p:txBody>
      </p:sp>
      <p:sp>
        <p:nvSpPr>
          <p:cNvPr id="15" name="Rounded Rectangle 14"/>
          <p:cNvSpPr/>
          <p:nvPr/>
        </p:nvSpPr>
        <p:spPr>
          <a:xfrm>
            <a:off x="640080" y="2386584"/>
            <a:ext cx="7863840" cy="1234440"/>
          </a:xfrm>
          <a:prstGeom prst="roundRect">
            <a:avLst>
              <a:gd name="adj" fmla="val 10000"/>
            </a:avLst>
          </a:prstGeom>
          <a:solidFill>
            <a:srgbClr val="143A6A"/>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505456"/>
            <a:ext cx="7498079" cy="228600"/>
          </a:xfrm>
          <a:prstGeom prst="rect">
            <a:avLst/>
          </a:prstGeom>
          <a:noFill/>
        </p:spPr>
        <p:txBody>
          <a:bodyPr wrap="square" anchor="t">
            <a:spAutoFit/>
          </a:bodyPr>
          <a:lstStyle/>
          <a:p>
            <a:pPr algn="l">
              <a:spcAft>
                <a:spcPts val="400"/>
              </a:spcAft>
            </a:pPr>
            <a:r>
              <a:rPr sz="1000" b="1">
                <a:solidFill>
                  <a:srgbClr val="06B6D4"/>
                </a:solidFill>
                <a:latin typeface="Calibri"/>
              </a:rPr>
              <a:t>PORTAL ACADÉMICO DEL ALUMNO</a:t>
            </a:r>
          </a:p>
        </p:txBody>
      </p:sp>
      <p:sp>
        <p:nvSpPr>
          <p:cNvPr id="17" name="TextBox 16"/>
          <p:cNvSpPr txBox="1"/>
          <p:nvPr/>
        </p:nvSpPr>
        <p:spPr>
          <a:xfrm>
            <a:off x="868680" y="2752344"/>
            <a:ext cx="7498079" cy="365760"/>
          </a:xfrm>
          <a:prstGeom prst="rect">
            <a:avLst/>
          </a:prstGeom>
          <a:noFill/>
        </p:spPr>
        <p:txBody>
          <a:bodyPr wrap="square" anchor="t">
            <a:spAutoFit/>
          </a:bodyPr>
          <a:lstStyle/>
          <a:p>
            <a:pPr algn="l">
              <a:spcAft>
                <a:spcPts val="400"/>
              </a:spcAft>
            </a:pPr>
            <a:r>
              <a:rPr sz="2200" b="1">
                <a:solidFill>
                  <a:srgbClr val="FFFFFF"/>
                </a:solidFill>
                <a:latin typeface="Calibri"/>
              </a:rPr>
              <a:t>Bienvenido, Dr(a).</a:t>
            </a:r>
          </a:p>
        </p:txBody>
      </p:sp>
      <p:sp>
        <p:nvSpPr>
          <p:cNvPr id="18" name="TextBox 17"/>
          <p:cNvSpPr txBox="1"/>
          <p:nvPr/>
        </p:nvSpPr>
        <p:spPr>
          <a:xfrm>
            <a:off x="868680" y="3163824"/>
            <a:ext cx="7498079" cy="274320"/>
          </a:xfrm>
          <a:prstGeom prst="rect">
            <a:avLst/>
          </a:prstGeom>
          <a:noFill/>
        </p:spPr>
        <p:txBody>
          <a:bodyPr wrap="square" anchor="t">
            <a:spAutoFit/>
          </a:bodyPr>
          <a:lstStyle/>
          <a:p>
            <a:pPr algn="l">
              <a:spcAft>
                <a:spcPts val="400"/>
              </a:spcAft>
            </a:pPr>
            <a:r>
              <a:rPr sz="1200" b="0">
                <a:solidFill>
                  <a:srgbClr val="CBD5E1"/>
                </a:solidFill>
                <a:latin typeface="Calibri"/>
              </a:rPr>
              <a:t>Racha de estudio  ·  Cédula verificada SEP</a:t>
            </a:r>
          </a:p>
        </p:txBody>
      </p:sp>
      <p:sp>
        <p:nvSpPr>
          <p:cNvPr id="19" name="Rounded Rectangle 18"/>
          <p:cNvSpPr/>
          <p:nvPr/>
        </p:nvSpPr>
        <p:spPr>
          <a:xfrm>
            <a:off x="640080" y="3803904"/>
            <a:ext cx="1051560" cy="329184"/>
          </a:xfrm>
          <a:prstGeom prst="roundRect">
            <a:avLst>
              <a:gd name="adj" fmla="val 50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840480"/>
            <a:ext cx="1051560" cy="292608"/>
          </a:xfrm>
          <a:prstGeom prst="rect">
            <a:avLst/>
          </a:prstGeom>
          <a:noFill/>
        </p:spPr>
        <p:txBody>
          <a:bodyPr wrap="square" anchor="ctr">
            <a:spAutoFit/>
          </a:bodyPr>
          <a:lstStyle/>
          <a:p>
            <a:pPr algn="ctr">
              <a:spcAft>
                <a:spcPts val="400"/>
              </a:spcAft>
            </a:pPr>
            <a:r>
              <a:rPr sz="1100" b="1">
                <a:solidFill>
                  <a:srgbClr val="FFFFFF"/>
                </a:solidFill>
                <a:latin typeface="Calibri"/>
              </a:rPr>
              <a:t>Resumen</a:t>
            </a:r>
          </a:p>
        </p:txBody>
      </p:sp>
      <p:sp>
        <p:nvSpPr>
          <p:cNvPr id="21" name="Rounded Rectangle 20"/>
          <p:cNvSpPr/>
          <p:nvPr/>
        </p:nvSpPr>
        <p:spPr>
          <a:xfrm>
            <a:off x="1755648" y="3803904"/>
            <a:ext cx="1051560" cy="329184"/>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55648" y="3840480"/>
            <a:ext cx="1051560" cy="292608"/>
          </a:xfrm>
          <a:prstGeom prst="rect">
            <a:avLst/>
          </a:prstGeom>
          <a:noFill/>
        </p:spPr>
        <p:txBody>
          <a:bodyPr wrap="square" anchor="ctr">
            <a:spAutoFit/>
          </a:bodyPr>
          <a:lstStyle/>
          <a:p>
            <a:pPr algn="ctr">
              <a:spcAft>
                <a:spcPts val="400"/>
              </a:spcAft>
            </a:pPr>
            <a:r>
              <a:rPr sz="1100" b="1">
                <a:solidFill>
                  <a:srgbClr val="FFFFFF"/>
                </a:solidFill>
                <a:latin typeface="Calibri"/>
              </a:rPr>
              <a:t>Módulos</a:t>
            </a:r>
          </a:p>
        </p:txBody>
      </p:sp>
      <p:sp>
        <p:nvSpPr>
          <p:cNvPr id="23" name="Rounded Rectangle 22"/>
          <p:cNvSpPr/>
          <p:nvPr/>
        </p:nvSpPr>
        <p:spPr>
          <a:xfrm>
            <a:off x="2871215" y="3803904"/>
            <a:ext cx="1051560" cy="329184"/>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71215" y="3840480"/>
            <a:ext cx="1051560" cy="292608"/>
          </a:xfrm>
          <a:prstGeom prst="rect">
            <a:avLst/>
          </a:prstGeom>
          <a:noFill/>
        </p:spPr>
        <p:txBody>
          <a:bodyPr wrap="square" anchor="ctr">
            <a:spAutoFit/>
          </a:bodyPr>
          <a:lstStyle/>
          <a:p>
            <a:pPr algn="ctr">
              <a:spcAft>
                <a:spcPts val="400"/>
              </a:spcAft>
            </a:pPr>
            <a:r>
              <a:rPr sz="1100" b="1">
                <a:solidFill>
                  <a:srgbClr val="FFFFFF"/>
                </a:solidFill>
                <a:latin typeface="Calibri"/>
              </a:rPr>
              <a:t>Quizzes</a:t>
            </a:r>
          </a:p>
        </p:txBody>
      </p:sp>
      <p:sp>
        <p:nvSpPr>
          <p:cNvPr id="25" name="Rounded Rectangle 24"/>
          <p:cNvSpPr/>
          <p:nvPr/>
        </p:nvSpPr>
        <p:spPr>
          <a:xfrm>
            <a:off x="3986784" y="3803904"/>
            <a:ext cx="1051560" cy="329184"/>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86784" y="3840480"/>
            <a:ext cx="1051560" cy="292608"/>
          </a:xfrm>
          <a:prstGeom prst="rect">
            <a:avLst/>
          </a:prstGeom>
          <a:noFill/>
        </p:spPr>
        <p:txBody>
          <a:bodyPr wrap="square" anchor="ctr">
            <a:spAutoFit/>
          </a:bodyPr>
          <a:lstStyle/>
          <a:p>
            <a:pPr algn="ctr">
              <a:spcAft>
                <a:spcPts val="400"/>
              </a:spcAft>
            </a:pPr>
            <a:r>
              <a:rPr sz="1100" b="1">
                <a:solidFill>
                  <a:srgbClr val="FFFFFF"/>
                </a:solidFill>
                <a:latin typeface="Calibri"/>
              </a:rPr>
              <a:t>Tareas</a:t>
            </a:r>
          </a:p>
        </p:txBody>
      </p:sp>
      <p:sp>
        <p:nvSpPr>
          <p:cNvPr id="27" name="Rounded Rectangle 26"/>
          <p:cNvSpPr/>
          <p:nvPr/>
        </p:nvSpPr>
        <p:spPr>
          <a:xfrm>
            <a:off x="5102352" y="3803904"/>
            <a:ext cx="1051560" cy="329184"/>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02352" y="3840480"/>
            <a:ext cx="1051560" cy="292608"/>
          </a:xfrm>
          <a:prstGeom prst="rect">
            <a:avLst/>
          </a:prstGeom>
          <a:noFill/>
        </p:spPr>
        <p:txBody>
          <a:bodyPr wrap="square" anchor="ctr">
            <a:spAutoFit/>
          </a:bodyPr>
          <a:lstStyle/>
          <a:p>
            <a:pPr algn="ctr">
              <a:spcAft>
                <a:spcPts val="400"/>
              </a:spcAft>
            </a:pPr>
            <a:r>
              <a:rPr sz="1100" b="1">
                <a:solidFill>
                  <a:srgbClr val="FFFFFF"/>
                </a:solidFill>
                <a:latin typeface="Calibri"/>
              </a:rPr>
              <a:t>Avisos</a:t>
            </a:r>
          </a:p>
        </p:txBody>
      </p:sp>
      <p:sp>
        <p:nvSpPr>
          <p:cNvPr id="29" name="Rounded Rectangle 28"/>
          <p:cNvSpPr/>
          <p:nvPr/>
        </p:nvSpPr>
        <p:spPr>
          <a:xfrm>
            <a:off x="6217920" y="3803904"/>
            <a:ext cx="1051560" cy="329184"/>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3840480"/>
            <a:ext cx="1051560" cy="292608"/>
          </a:xfrm>
          <a:prstGeom prst="rect">
            <a:avLst/>
          </a:prstGeom>
          <a:noFill/>
        </p:spPr>
        <p:txBody>
          <a:bodyPr wrap="square" anchor="ctr">
            <a:spAutoFit/>
          </a:bodyPr>
          <a:lstStyle/>
          <a:p>
            <a:pPr algn="ctr">
              <a:spcAft>
                <a:spcPts val="400"/>
              </a:spcAft>
            </a:pPr>
            <a:r>
              <a:rPr sz="1100" b="1">
                <a:solidFill>
                  <a:srgbClr val="FFFFFF"/>
                </a:solidFill>
                <a:latin typeface="Calibri"/>
              </a:rPr>
              <a:t>Constancia</a:t>
            </a:r>
          </a:p>
        </p:txBody>
      </p:sp>
      <p:sp>
        <p:nvSpPr>
          <p:cNvPr id="31" name="Rounded Rectangle 30"/>
          <p:cNvSpPr/>
          <p:nvPr/>
        </p:nvSpPr>
        <p:spPr>
          <a:xfrm>
            <a:off x="7333488" y="3803904"/>
            <a:ext cx="1051560" cy="329184"/>
          </a:xfrm>
          <a:prstGeom prst="roundRect">
            <a:avLst>
              <a:gd name="adj" fmla="val 50000"/>
            </a:avLst>
          </a:prstGeom>
          <a:solidFill>
            <a:srgbClr val="16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33488" y="3840480"/>
            <a:ext cx="1051560" cy="292608"/>
          </a:xfrm>
          <a:prstGeom prst="rect">
            <a:avLst/>
          </a:prstGeom>
          <a:noFill/>
        </p:spPr>
        <p:txBody>
          <a:bodyPr wrap="square" anchor="ctr">
            <a:spAutoFit/>
          </a:bodyPr>
          <a:lstStyle/>
          <a:p>
            <a:pPr algn="ctr">
              <a:spcAft>
                <a:spcPts val="400"/>
              </a:spcAft>
            </a:pPr>
            <a:r>
              <a:rPr sz="1100" b="1">
                <a:solidFill>
                  <a:srgbClr val="FFFFFF"/>
                </a:solidFill>
                <a:latin typeface="Calibri"/>
              </a:rPr>
              <a:t>Estudio</a:t>
            </a:r>
          </a:p>
        </p:txBody>
      </p:sp>
      <p:sp>
        <p:nvSpPr>
          <p:cNvPr id="33" name="Rounded Rectangle 32"/>
          <p:cNvSpPr/>
          <p:nvPr/>
        </p:nvSpPr>
        <p:spPr>
          <a:xfrm>
            <a:off x="640080" y="4306824"/>
            <a:ext cx="2560320" cy="1234440"/>
          </a:xfrm>
          <a:prstGeom prst="roundRect">
            <a:avLst>
              <a:gd name="adj" fmla="val 10000"/>
            </a:avLst>
          </a:prstGeom>
          <a:solidFill>
            <a:srgbClr val="16244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443983"/>
            <a:ext cx="2240280" cy="502920"/>
          </a:xfrm>
          <a:prstGeom prst="rect">
            <a:avLst/>
          </a:prstGeom>
          <a:noFill/>
        </p:spPr>
        <p:txBody>
          <a:bodyPr wrap="square" anchor="t">
            <a:spAutoFit/>
          </a:bodyPr>
          <a:lstStyle/>
          <a:p>
            <a:pPr algn="ctr">
              <a:spcAft>
                <a:spcPts val="400"/>
              </a:spcAft>
            </a:pPr>
            <a:r>
              <a:rPr sz="2600" b="1">
                <a:solidFill>
                  <a:srgbClr val="38BDF8"/>
                </a:solidFill>
                <a:latin typeface="Calibri"/>
              </a:rPr>
              <a:t>— %</a:t>
            </a:r>
          </a:p>
        </p:txBody>
      </p:sp>
      <p:sp>
        <p:nvSpPr>
          <p:cNvPr id="35" name="TextBox 34"/>
          <p:cNvSpPr txBox="1"/>
          <p:nvPr/>
        </p:nvSpPr>
        <p:spPr>
          <a:xfrm>
            <a:off x="822960" y="5038344"/>
            <a:ext cx="2240280" cy="320040"/>
          </a:xfrm>
          <a:prstGeom prst="rect">
            <a:avLst/>
          </a:prstGeom>
          <a:noFill/>
        </p:spPr>
        <p:txBody>
          <a:bodyPr wrap="square" anchor="t">
            <a:spAutoFit/>
          </a:bodyPr>
          <a:lstStyle/>
          <a:p>
            <a:pPr algn="ctr">
              <a:spcAft>
                <a:spcPts val="400"/>
              </a:spcAft>
            </a:pPr>
            <a:r>
              <a:rPr sz="1200" b="0">
                <a:solidFill>
                  <a:srgbClr val="94A3B8"/>
                </a:solidFill>
                <a:latin typeface="Calibri"/>
              </a:rPr>
              <a:t>Progreso</a:t>
            </a:r>
          </a:p>
        </p:txBody>
      </p:sp>
      <p:sp>
        <p:nvSpPr>
          <p:cNvPr id="36" name="Rounded Rectangle 35"/>
          <p:cNvSpPr/>
          <p:nvPr/>
        </p:nvSpPr>
        <p:spPr>
          <a:xfrm>
            <a:off x="3337560" y="4306824"/>
            <a:ext cx="2560320" cy="1234440"/>
          </a:xfrm>
          <a:prstGeom prst="roundRect">
            <a:avLst>
              <a:gd name="adj" fmla="val 10000"/>
            </a:avLst>
          </a:prstGeom>
          <a:solidFill>
            <a:srgbClr val="16244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20440" y="4443983"/>
            <a:ext cx="2240280" cy="502920"/>
          </a:xfrm>
          <a:prstGeom prst="rect">
            <a:avLst/>
          </a:prstGeom>
          <a:noFill/>
        </p:spPr>
        <p:txBody>
          <a:bodyPr wrap="square" anchor="t">
            <a:spAutoFit/>
          </a:bodyPr>
          <a:lstStyle/>
          <a:p>
            <a:pPr algn="ctr">
              <a:spcAft>
                <a:spcPts val="400"/>
              </a:spcAft>
            </a:pPr>
            <a:r>
              <a:rPr sz="2600" b="1">
                <a:solidFill>
                  <a:srgbClr val="38BDF8"/>
                </a:solidFill>
                <a:latin typeface="Calibri"/>
              </a:rPr>
              <a:t>— %</a:t>
            </a:r>
          </a:p>
        </p:txBody>
      </p:sp>
      <p:sp>
        <p:nvSpPr>
          <p:cNvPr id="38" name="TextBox 37"/>
          <p:cNvSpPr txBox="1"/>
          <p:nvPr/>
        </p:nvSpPr>
        <p:spPr>
          <a:xfrm>
            <a:off x="3520440" y="5038344"/>
            <a:ext cx="2240280" cy="320040"/>
          </a:xfrm>
          <a:prstGeom prst="rect">
            <a:avLst/>
          </a:prstGeom>
          <a:noFill/>
        </p:spPr>
        <p:txBody>
          <a:bodyPr wrap="square" anchor="t">
            <a:spAutoFit/>
          </a:bodyPr>
          <a:lstStyle/>
          <a:p>
            <a:pPr algn="ctr">
              <a:spcAft>
                <a:spcPts val="400"/>
              </a:spcAft>
            </a:pPr>
            <a:r>
              <a:rPr sz="1200" b="0">
                <a:solidFill>
                  <a:srgbClr val="94A3B8"/>
                </a:solidFill>
                <a:latin typeface="Calibri"/>
              </a:rPr>
              <a:t>Promedio</a:t>
            </a:r>
          </a:p>
        </p:txBody>
      </p:sp>
      <p:sp>
        <p:nvSpPr>
          <p:cNvPr id="39" name="Rounded Rectangle 38"/>
          <p:cNvSpPr/>
          <p:nvPr/>
        </p:nvSpPr>
        <p:spPr>
          <a:xfrm>
            <a:off x="6035040" y="4306824"/>
            <a:ext cx="2560320" cy="1234440"/>
          </a:xfrm>
          <a:prstGeom prst="roundRect">
            <a:avLst>
              <a:gd name="adj" fmla="val 10000"/>
            </a:avLst>
          </a:prstGeom>
          <a:solidFill>
            <a:srgbClr val="16244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0" y="4443983"/>
            <a:ext cx="2240280" cy="502920"/>
          </a:xfrm>
          <a:prstGeom prst="rect">
            <a:avLst/>
          </a:prstGeom>
          <a:noFill/>
        </p:spPr>
        <p:txBody>
          <a:bodyPr wrap="square" anchor="t">
            <a:spAutoFit/>
          </a:bodyPr>
          <a:lstStyle/>
          <a:p>
            <a:pPr algn="ctr">
              <a:spcAft>
                <a:spcPts val="400"/>
              </a:spcAft>
            </a:pPr>
            <a:r>
              <a:rPr sz="2600" b="1">
                <a:solidFill>
                  <a:srgbClr val="38BDF8"/>
                </a:solidFill>
                <a:latin typeface="Calibri"/>
              </a:rPr>
              <a:t>CME</a:t>
            </a:r>
          </a:p>
        </p:txBody>
      </p:sp>
      <p:sp>
        <p:nvSpPr>
          <p:cNvPr id="41" name="TextBox 40"/>
          <p:cNvSpPr txBox="1"/>
          <p:nvPr/>
        </p:nvSpPr>
        <p:spPr>
          <a:xfrm>
            <a:off x="6217920" y="5038344"/>
            <a:ext cx="2240280" cy="320040"/>
          </a:xfrm>
          <a:prstGeom prst="rect">
            <a:avLst/>
          </a:prstGeom>
          <a:noFill/>
        </p:spPr>
        <p:txBody>
          <a:bodyPr wrap="square" anchor="t">
            <a:spAutoFit/>
          </a:bodyPr>
          <a:lstStyle/>
          <a:p>
            <a:pPr algn="ctr">
              <a:spcAft>
                <a:spcPts val="400"/>
              </a:spcAft>
            </a:pPr>
            <a:r>
              <a:rPr sz="1200" b="0">
                <a:solidFill>
                  <a:srgbClr val="94A3B8"/>
                </a:solidFill>
                <a:latin typeface="Calibri"/>
              </a:rPr>
              <a:t>Horas</a:t>
            </a:r>
          </a:p>
        </p:txBody>
      </p:sp>
      <p:sp>
        <p:nvSpPr>
          <p:cNvPr id="42" name="Rounded Rectangle 41"/>
          <p:cNvSpPr/>
          <p:nvPr/>
        </p:nvSpPr>
        <p:spPr>
          <a:xfrm>
            <a:off x="640080" y="5769864"/>
            <a:ext cx="7863840" cy="457200"/>
          </a:xfrm>
          <a:prstGeom prst="roundRect">
            <a:avLst>
              <a:gd name="adj" fmla="val 50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5806440"/>
            <a:ext cx="7863840" cy="420624"/>
          </a:xfrm>
          <a:prstGeom prst="rect">
            <a:avLst/>
          </a:prstGeom>
          <a:noFill/>
        </p:spPr>
        <p:txBody>
          <a:bodyPr wrap="square" anchor="ctr">
            <a:spAutoFit/>
          </a:bodyPr>
          <a:lstStyle/>
          <a:p>
            <a:pPr algn="ctr">
              <a:spcAft>
                <a:spcPts val="400"/>
              </a:spcAft>
            </a:pPr>
            <a:r>
              <a:rPr sz="1100" b="1">
                <a:solidFill>
                  <a:srgbClr val="FFFFFF"/>
                </a:solidFill>
                <a:latin typeface="Calibri"/>
              </a:rPr>
              <a:t>Continuar donde te quedaste</a:t>
            </a:r>
          </a:p>
        </p:txBody>
      </p:sp>
      <p:sp>
        <p:nvSpPr>
          <p:cNvPr id="44" name="TextBox 43"/>
          <p:cNvSpPr txBox="1"/>
          <p:nvPr/>
        </p:nvSpPr>
        <p:spPr>
          <a:xfrm>
            <a:off x="640080" y="6409944"/>
            <a:ext cx="7863840" cy="640080"/>
          </a:xfrm>
          <a:prstGeom prst="rect">
            <a:avLst/>
          </a:prstGeom>
          <a:noFill/>
        </p:spPr>
        <p:txBody>
          <a:bodyPr wrap="square" anchor="t">
            <a:spAutoFit/>
          </a:bodyPr>
          <a:lstStyle/>
          <a:p>
            <a:pPr algn="ctr">
              <a:spcAft>
                <a:spcPts val="400"/>
              </a:spcAft>
            </a:pPr>
            <a:r>
              <a:rPr sz="1400" b="0">
                <a:solidFill>
                  <a:srgbClr val="CBD5E1"/>
                </a:solidFill>
                <a:latin typeface="Calibri"/>
              </a:rPr>
              <a:t>La plataforma recuerda el último tema. No pierdas tiempo buscando en qué ibas.</a:t>
            </a:r>
          </a:p>
        </p:txBody>
      </p:sp>
      <p:sp>
        <p:nvSpPr>
          <p:cNvPr id="45" name="Rounded Rectangle 44"/>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40080" y="8732520"/>
            <a:ext cx="3700630"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48" name="TextBox 47"/>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08  /  17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CÓMO ESTUDIAR</a:t>
            </a:r>
          </a:p>
        </p:txBody>
      </p:sp>
      <p:sp>
        <p:nvSpPr>
          <p:cNvPr id="8" name="TextBox 7"/>
          <p:cNvSpPr txBox="1"/>
          <p:nvPr/>
        </p:nvSpPr>
        <p:spPr>
          <a:xfrm>
            <a:off x="502920" y="1207008"/>
            <a:ext cx="8138160" cy="640080"/>
          </a:xfrm>
          <a:prstGeom prst="rect">
            <a:avLst/>
          </a:prstGeom>
          <a:noFill/>
        </p:spPr>
        <p:txBody>
          <a:bodyPr wrap="square" anchor="t">
            <a:spAutoFit/>
          </a:bodyPr>
          <a:lstStyle/>
          <a:p>
            <a:pPr algn="l">
              <a:spcAft>
                <a:spcPts val="400"/>
              </a:spcAft>
            </a:pPr>
            <a:r>
              <a:rPr sz="2400" b="1">
                <a:solidFill>
                  <a:srgbClr val="FFFFFF"/>
                </a:solidFill>
                <a:latin typeface="Calibri"/>
              </a:rPr>
              <a:t>No salgas de la lección sin tus tarjetas</a:t>
            </a:r>
          </a:p>
        </p:txBody>
      </p:sp>
      <p:sp>
        <p:nvSpPr>
          <p:cNvPr id="9" name="Rounded Rectangle 8"/>
          <p:cNvSpPr/>
          <p:nvPr/>
        </p:nvSpPr>
        <p:spPr>
          <a:xfrm>
            <a:off x="457200" y="2011680"/>
            <a:ext cx="3977639" cy="269748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5800" y="2286000"/>
            <a:ext cx="502920" cy="5029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377440"/>
            <a:ext cx="457200" cy="320040"/>
          </a:xfrm>
          <a:prstGeom prst="rect">
            <a:avLst/>
          </a:prstGeom>
          <a:noFill/>
        </p:spPr>
        <p:txBody>
          <a:bodyPr wrap="square" anchor="t">
            <a:spAutoFit/>
          </a:bodyPr>
          <a:lstStyle/>
          <a:p>
            <a:pPr algn="ctr">
              <a:spcAft>
                <a:spcPts val="400"/>
              </a:spcAft>
            </a:pPr>
            <a:r>
              <a:rPr sz="1200" b="1">
                <a:solidFill>
                  <a:srgbClr val="FFFFFF"/>
                </a:solidFill>
                <a:latin typeface="Calibri"/>
              </a:rPr>
              <a:t>01</a:t>
            </a:r>
          </a:p>
        </p:txBody>
      </p:sp>
      <p:sp>
        <p:nvSpPr>
          <p:cNvPr id="12" name="TextBox 11"/>
          <p:cNvSpPr txBox="1"/>
          <p:nvPr/>
        </p:nvSpPr>
        <p:spPr>
          <a:xfrm>
            <a:off x="685800" y="2971800"/>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Apuntes</a:t>
            </a:r>
          </a:p>
        </p:txBody>
      </p:sp>
      <p:sp>
        <p:nvSpPr>
          <p:cNvPr id="13" name="TextBox 12"/>
          <p:cNvSpPr txBox="1"/>
          <p:nvPr/>
        </p:nvSpPr>
        <p:spPr>
          <a:xfrm>
            <a:off x="685800" y="3429000"/>
            <a:ext cx="3566160" cy="1051560"/>
          </a:xfrm>
          <a:prstGeom prst="rect">
            <a:avLst/>
          </a:prstGeom>
          <a:noFill/>
        </p:spPr>
        <p:txBody>
          <a:bodyPr wrap="square" anchor="t">
            <a:spAutoFit/>
          </a:bodyPr>
          <a:lstStyle/>
          <a:p>
            <a:pPr algn="l">
              <a:spcAft>
                <a:spcPts val="400"/>
              </a:spcAft>
            </a:pPr>
            <a:r>
              <a:rPr sz="1300" b="0">
                <a:solidFill>
                  <a:srgbClr val="CBD5E1"/>
                </a:solidFill>
                <a:latin typeface="Calibri"/>
              </a:rPr>
              <a:t>Quedan ligados al tema, en tu cuenta. Los retomas en cualquier dispositivo.</a:t>
            </a:r>
          </a:p>
        </p:txBody>
      </p:sp>
      <p:sp>
        <p:nvSpPr>
          <p:cNvPr id="14" name="Rounded Rectangle 13"/>
          <p:cNvSpPr/>
          <p:nvPr/>
        </p:nvSpPr>
        <p:spPr>
          <a:xfrm>
            <a:off x="4617720" y="2011680"/>
            <a:ext cx="3977639" cy="269748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46320" y="2286000"/>
            <a:ext cx="502920" cy="502920"/>
          </a:xfrm>
          <a:prstGeom prst="ellipse">
            <a:avLst/>
          </a:prstGeom>
          <a:solidFill>
            <a:srgbClr val="0E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73752" y="2377440"/>
            <a:ext cx="457200" cy="320040"/>
          </a:xfrm>
          <a:prstGeom prst="rect">
            <a:avLst/>
          </a:prstGeom>
          <a:noFill/>
        </p:spPr>
        <p:txBody>
          <a:bodyPr wrap="square" anchor="t">
            <a:spAutoFit/>
          </a:bodyPr>
          <a:lstStyle/>
          <a:p>
            <a:pPr algn="ctr">
              <a:spcAft>
                <a:spcPts val="400"/>
              </a:spcAft>
            </a:pPr>
            <a:r>
              <a:rPr sz="1200" b="1">
                <a:solidFill>
                  <a:srgbClr val="FFFFFF"/>
                </a:solidFill>
                <a:latin typeface="Calibri"/>
              </a:rPr>
              <a:t>02</a:t>
            </a:r>
          </a:p>
        </p:txBody>
      </p:sp>
      <p:sp>
        <p:nvSpPr>
          <p:cNvPr id="17" name="TextBox 16"/>
          <p:cNvSpPr txBox="1"/>
          <p:nvPr/>
        </p:nvSpPr>
        <p:spPr>
          <a:xfrm>
            <a:off x="4846320" y="2971800"/>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Marcador</a:t>
            </a:r>
          </a:p>
        </p:txBody>
      </p:sp>
      <p:sp>
        <p:nvSpPr>
          <p:cNvPr id="18" name="TextBox 17"/>
          <p:cNvSpPr txBox="1"/>
          <p:nvPr/>
        </p:nvSpPr>
        <p:spPr>
          <a:xfrm>
            <a:off x="4846320" y="3429000"/>
            <a:ext cx="3566160" cy="1051560"/>
          </a:xfrm>
          <a:prstGeom prst="rect">
            <a:avLst/>
          </a:prstGeom>
          <a:noFill/>
        </p:spPr>
        <p:txBody>
          <a:bodyPr wrap="square" anchor="t">
            <a:spAutoFit/>
          </a:bodyPr>
          <a:lstStyle/>
          <a:p>
            <a:pPr algn="l">
              <a:spcAft>
                <a:spcPts val="400"/>
              </a:spcAft>
            </a:pPr>
            <a:r>
              <a:rPr sz="1300" b="0">
                <a:solidFill>
                  <a:srgbClr val="CBD5E1"/>
                </a:solidFill>
                <a:latin typeface="Calibri"/>
              </a:rPr>
              <a:t>Guarda la lección como favorita para el repaso antes de un examen.</a:t>
            </a:r>
          </a:p>
        </p:txBody>
      </p:sp>
      <p:sp>
        <p:nvSpPr>
          <p:cNvPr id="19" name="Rounded Rectangle 18"/>
          <p:cNvSpPr/>
          <p:nvPr/>
        </p:nvSpPr>
        <p:spPr>
          <a:xfrm>
            <a:off x="457200" y="4937760"/>
            <a:ext cx="3977639" cy="269748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5212080"/>
            <a:ext cx="502920" cy="5029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303520"/>
            <a:ext cx="457200" cy="320040"/>
          </a:xfrm>
          <a:prstGeom prst="rect">
            <a:avLst/>
          </a:prstGeom>
          <a:noFill/>
        </p:spPr>
        <p:txBody>
          <a:bodyPr wrap="square" anchor="t">
            <a:spAutoFit/>
          </a:bodyPr>
          <a:lstStyle/>
          <a:p>
            <a:pPr algn="ctr">
              <a:spcAft>
                <a:spcPts val="400"/>
              </a:spcAft>
            </a:pPr>
            <a:r>
              <a:rPr sz="1200" b="1">
                <a:solidFill>
                  <a:srgbClr val="FFFFFF"/>
                </a:solidFill>
                <a:latin typeface="Calibri"/>
              </a:rPr>
              <a:t>03</a:t>
            </a:r>
          </a:p>
        </p:txBody>
      </p:sp>
      <p:sp>
        <p:nvSpPr>
          <p:cNvPr id="22" name="TextBox 21"/>
          <p:cNvSpPr txBox="1"/>
          <p:nvPr/>
        </p:nvSpPr>
        <p:spPr>
          <a:xfrm>
            <a:off x="685800" y="5897880"/>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Tarjetas SM-2</a:t>
            </a:r>
          </a:p>
        </p:txBody>
      </p:sp>
      <p:sp>
        <p:nvSpPr>
          <p:cNvPr id="23" name="TextBox 22"/>
          <p:cNvSpPr txBox="1"/>
          <p:nvPr/>
        </p:nvSpPr>
        <p:spPr>
          <a:xfrm>
            <a:off x="685800" y="6355080"/>
            <a:ext cx="3566160" cy="1051560"/>
          </a:xfrm>
          <a:prstGeom prst="rect">
            <a:avLst/>
          </a:prstGeom>
          <a:noFill/>
        </p:spPr>
        <p:txBody>
          <a:bodyPr wrap="square" anchor="t">
            <a:spAutoFit/>
          </a:bodyPr>
          <a:lstStyle/>
          <a:p>
            <a:pPr algn="l">
              <a:spcAft>
                <a:spcPts val="400"/>
              </a:spcAft>
            </a:pPr>
            <a:r>
              <a:rPr sz="1300" b="0">
                <a:solidFill>
                  <a:srgbClr val="CBD5E1"/>
                </a:solidFill>
                <a:latin typeface="Calibri"/>
              </a:rPr>
              <a:t>Se crean desde perlas clínicas y puntos clave. Las calificas: Otra vez, Difícil, Bien o Fácil.</a:t>
            </a:r>
          </a:p>
        </p:txBody>
      </p:sp>
      <p:sp>
        <p:nvSpPr>
          <p:cNvPr id="24" name="Rounded Rectangle 23"/>
          <p:cNvSpPr/>
          <p:nvPr/>
        </p:nvSpPr>
        <p:spPr>
          <a:xfrm>
            <a:off x="4617720" y="4937760"/>
            <a:ext cx="3977639" cy="269748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46320" y="5212080"/>
            <a:ext cx="502920" cy="502920"/>
          </a:xfrm>
          <a:prstGeom prst="ellipse">
            <a:avLst/>
          </a:prstGeom>
          <a:solidFill>
            <a:srgbClr val="0E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73752" y="5303520"/>
            <a:ext cx="457200" cy="320040"/>
          </a:xfrm>
          <a:prstGeom prst="rect">
            <a:avLst/>
          </a:prstGeom>
          <a:noFill/>
        </p:spPr>
        <p:txBody>
          <a:bodyPr wrap="square" anchor="t">
            <a:spAutoFit/>
          </a:bodyPr>
          <a:lstStyle/>
          <a:p>
            <a:pPr algn="ctr">
              <a:spcAft>
                <a:spcPts val="400"/>
              </a:spcAft>
            </a:pPr>
            <a:r>
              <a:rPr sz="1200" b="1">
                <a:solidFill>
                  <a:srgbClr val="FFFFFF"/>
                </a:solidFill>
                <a:latin typeface="Calibri"/>
              </a:rPr>
              <a:t>04</a:t>
            </a:r>
          </a:p>
        </p:txBody>
      </p:sp>
      <p:sp>
        <p:nvSpPr>
          <p:cNvPr id="27" name="TextBox 26"/>
          <p:cNvSpPr txBox="1"/>
          <p:nvPr/>
        </p:nvSpPr>
        <p:spPr>
          <a:xfrm>
            <a:off x="4846320" y="5897880"/>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Cuaderno de errores</a:t>
            </a:r>
          </a:p>
        </p:txBody>
      </p:sp>
      <p:sp>
        <p:nvSpPr>
          <p:cNvPr id="28" name="TextBox 27"/>
          <p:cNvSpPr txBox="1"/>
          <p:nvPr/>
        </p:nvSpPr>
        <p:spPr>
          <a:xfrm>
            <a:off x="4846320" y="6355080"/>
            <a:ext cx="3566160" cy="1051560"/>
          </a:xfrm>
          <a:prstGeom prst="rect">
            <a:avLst/>
          </a:prstGeom>
          <a:noFill/>
        </p:spPr>
        <p:txBody>
          <a:bodyPr wrap="square" anchor="t">
            <a:spAutoFit/>
          </a:bodyPr>
          <a:lstStyle/>
          <a:p>
            <a:pPr algn="l">
              <a:spcAft>
                <a:spcPts val="400"/>
              </a:spcAft>
            </a:pPr>
            <a:r>
              <a:rPr sz="1300" b="0">
                <a:solidFill>
                  <a:srgbClr val="CBD5E1"/>
                </a:solidFill>
                <a:latin typeface="Calibri"/>
              </a:rPr>
              <a:t>Junta las preguntas que fallaste y te enlaza de regreso al tema. Si solo haces una cosa antes del examen, haz esto.</a:t>
            </a:r>
          </a:p>
        </p:txBody>
      </p:sp>
      <p:sp>
        <p:nvSpPr>
          <p:cNvPr id="29" name="Rounded Rectangle 28"/>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0080" y="8732520"/>
            <a:ext cx="4163209"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32" name="TextBox 31"/>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09  /  17</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EVALUACIONES POR TEMA</a:t>
            </a:r>
          </a:p>
        </p:txBody>
      </p:sp>
      <p:sp>
        <p:nvSpPr>
          <p:cNvPr id="8" name="TextBox 7"/>
          <p:cNvSpPr txBox="1"/>
          <p:nvPr/>
        </p:nvSpPr>
        <p:spPr>
          <a:xfrm>
            <a:off x="502920" y="1207008"/>
            <a:ext cx="8138160" cy="502920"/>
          </a:xfrm>
          <a:prstGeom prst="rect">
            <a:avLst/>
          </a:prstGeom>
          <a:noFill/>
        </p:spPr>
        <p:txBody>
          <a:bodyPr wrap="square" anchor="t">
            <a:spAutoFit/>
          </a:bodyPr>
          <a:lstStyle/>
          <a:p>
            <a:pPr algn="l">
              <a:spcAft>
                <a:spcPts val="400"/>
              </a:spcAft>
            </a:pPr>
            <a:r>
              <a:rPr sz="2800" b="1">
                <a:solidFill>
                  <a:srgbClr val="FFFFFF"/>
                </a:solidFill>
                <a:latin typeface="Calibri"/>
              </a:rPr>
              <a:t>Aprueba con 70. Apunta al 80.</a:t>
            </a:r>
          </a:p>
        </p:txBody>
      </p:sp>
      <p:sp>
        <p:nvSpPr>
          <p:cNvPr id="9" name="Rounded Rectangle 8"/>
          <p:cNvSpPr/>
          <p:nvPr/>
        </p:nvSpPr>
        <p:spPr>
          <a:xfrm>
            <a:off x="457200" y="1828800"/>
            <a:ext cx="4709160" cy="6355080"/>
          </a:xfrm>
          <a:prstGeom prst="roundRect">
            <a:avLst>
              <a:gd name="adj" fmla="val 8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4709160" cy="347472"/>
          </a:xfrm>
          <a:prstGeom prst="rect">
            <a:avLst/>
          </a:prstGeom>
          <a:solidFill>
            <a:srgbClr val="0D162C"/>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938528"/>
            <a:ext cx="128016" cy="12801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1938528"/>
            <a:ext cx="128016" cy="12801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1938528"/>
            <a:ext cx="128016" cy="12801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1883664"/>
            <a:ext cx="3886200" cy="256032"/>
          </a:xfrm>
          <a:prstGeom prst="rect">
            <a:avLst/>
          </a:prstGeom>
          <a:noFill/>
        </p:spPr>
        <p:txBody>
          <a:bodyPr wrap="square" anchor="t">
            <a:spAutoFit/>
          </a:bodyPr>
          <a:lstStyle/>
          <a:p>
            <a:pPr algn="l">
              <a:spcAft>
                <a:spcPts val="400"/>
              </a:spcAft>
            </a:pPr>
            <a:r>
              <a:rPr sz="900" b="0">
                <a:solidFill>
                  <a:srgbClr val="94A3B8"/>
                </a:solidFill>
                <a:latin typeface="Calibri"/>
              </a:rPr>
              <a:t>electodx.app  ·  Evaluación del tema</a:t>
            </a:r>
          </a:p>
        </p:txBody>
      </p:sp>
      <p:sp>
        <p:nvSpPr>
          <p:cNvPr id="15" name="TextBox 14"/>
          <p:cNvSpPr txBox="1"/>
          <p:nvPr/>
        </p:nvSpPr>
        <p:spPr>
          <a:xfrm>
            <a:off x="640080" y="2340864"/>
            <a:ext cx="4343400" cy="228600"/>
          </a:xfrm>
          <a:prstGeom prst="rect">
            <a:avLst/>
          </a:prstGeom>
          <a:noFill/>
        </p:spPr>
        <p:txBody>
          <a:bodyPr wrap="square" anchor="t">
            <a:spAutoFit/>
          </a:bodyPr>
          <a:lstStyle/>
          <a:p>
            <a:pPr algn="l">
              <a:spcAft>
                <a:spcPts val="400"/>
              </a:spcAft>
            </a:pPr>
            <a:r>
              <a:rPr sz="1100" b="0">
                <a:solidFill>
                  <a:srgbClr val="94A3B8"/>
                </a:solidFill>
                <a:latin typeface="Calibri"/>
              </a:rPr>
              <a:t>Pregunta  3  de  4        02:41</a:t>
            </a:r>
          </a:p>
        </p:txBody>
      </p:sp>
      <p:sp>
        <p:nvSpPr>
          <p:cNvPr id="16" name="Rounded Rectangle 15"/>
          <p:cNvSpPr/>
          <p:nvPr/>
        </p:nvSpPr>
        <p:spPr>
          <a:xfrm>
            <a:off x="640080" y="2660904"/>
            <a:ext cx="434340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2660904"/>
            <a:ext cx="3108960"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889504"/>
            <a:ext cx="4343400" cy="1051560"/>
          </a:xfrm>
          <a:prstGeom prst="rect">
            <a:avLst/>
          </a:prstGeom>
          <a:noFill/>
        </p:spPr>
        <p:txBody>
          <a:bodyPr wrap="square" anchor="t">
            <a:spAutoFit/>
          </a:bodyPr>
          <a:lstStyle/>
          <a:p>
            <a:pPr algn="l">
              <a:spcAft>
                <a:spcPts val="400"/>
              </a:spcAft>
            </a:pPr>
            <a:r>
              <a:rPr sz="1400" b="1">
                <a:solidFill>
                  <a:srgbClr val="FFFFFF"/>
                </a:solidFill>
                <a:latin typeface="Calibri"/>
              </a:rPr>
              <a:t>En un CMAP del mediano, una latencia distal de 5.9 ms sugiere principalmente:</a:t>
            </a:r>
          </a:p>
        </p:txBody>
      </p:sp>
      <p:sp>
        <p:nvSpPr>
          <p:cNvPr id="19" name="Rounded Rectangle 18"/>
          <p:cNvSpPr/>
          <p:nvPr/>
        </p:nvSpPr>
        <p:spPr>
          <a:xfrm>
            <a:off x="640080" y="4123944"/>
            <a:ext cx="4343400" cy="548640"/>
          </a:xfrm>
          <a:prstGeom prst="roundRect">
            <a:avLst>
              <a:gd name="adj" fmla="val 10000"/>
            </a:avLst>
          </a:prstGeom>
          <a:solidFill>
            <a:srgbClr val="16244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251959"/>
            <a:ext cx="4023360" cy="320040"/>
          </a:xfrm>
          <a:prstGeom prst="rect">
            <a:avLst/>
          </a:prstGeom>
          <a:noFill/>
        </p:spPr>
        <p:txBody>
          <a:bodyPr wrap="square" anchor="t">
            <a:spAutoFit/>
          </a:bodyPr>
          <a:lstStyle/>
          <a:p>
            <a:pPr algn="l">
              <a:spcAft>
                <a:spcPts val="400"/>
              </a:spcAft>
            </a:pPr>
            <a:r>
              <a:rPr sz="1200" b="0">
                <a:solidFill>
                  <a:srgbClr val="CBD5E1"/>
                </a:solidFill>
                <a:latin typeface="Calibri"/>
              </a:rPr>
              <a:t>Variante anatómica de Martin-Gruber</a:t>
            </a:r>
          </a:p>
        </p:txBody>
      </p:sp>
      <p:sp>
        <p:nvSpPr>
          <p:cNvPr id="21" name="Rounded Rectangle 20"/>
          <p:cNvSpPr/>
          <p:nvPr/>
        </p:nvSpPr>
        <p:spPr>
          <a:xfrm>
            <a:off x="640080" y="4764024"/>
            <a:ext cx="4343400" cy="548640"/>
          </a:xfrm>
          <a:prstGeom prst="roundRect">
            <a:avLst>
              <a:gd name="adj" fmla="val 10000"/>
            </a:avLst>
          </a:prstGeom>
          <a:solidFill>
            <a:srgbClr val="0C3A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892040"/>
            <a:ext cx="4023360" cy="320040"/>
          </a:xfrm>
          <a:prstGeom prst="rect">
            <a:avLst/>
          </a:prstGeom>
          <a:noFill/>
        </p:spPr>
        <p:txBody>
          <a:bodyPr wrap="square" anchor="t">
            <a:spAutoFit/>
          </a:bodyPr>
          <a:lstStyle/>
          <a:p>
            <a:pPr algn="l">
              <a:spcAft>
                <a:spcPts val="400"/>
              </a:spcAft>
            </a:pPr>
            <a:r>
              <a:rPr sz="1200" b="1">
                <a:solidFill>
                  <a:srgbClr val="FFFFFF"/>
                </a:solidFill>
                <a:latin typeface="Calibri"/>
              </a:rPr>
              <a:t>Desmielinización focal en muñeca</a:t>
            </a:r>
          </a:p>
        </p:txBody>
      </p:sp>
      <p:sp>
        <p:nvSpPr>
          <p:cNvPr id="23" name="Rounded Rectangle 22"/>
          <p:cNvSpPr/>
          <p:nvPr/>
        </p:nvSpPr>
        <p:spPr>
          <a:xfrm>
            <a:off x="640080" y="5404104"/>
            <a:ext cx="4343400" cy="548640"/>
          </a:xfrm>
          <a:prstGeom prst="roundRect">
            <a:avLst>
              <a:gd name="adj" fmla="val 10000"/>
            </a:avLst>
          </a:prstGeom>
          <a:solidFill>
            <a:srgbClr val="16244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532120"/>
            <a:ext cx="4023360" cy="320040"/>
          </a:xfrm>
          <a:prstGeom prst="rect">
            <a:avLst/>
          </a:prstGeom>
          <a:noFill/>
        </p:spPr>
        <p:txBody>
          <a:bodyPr wrap="square" anchor="t">
            <a:spAutoFit/>
          </a:bodyPr>
          <a:lstStyle/>
          <a:p>
            <a:pPr algn="l">
              <a:spcAft>
                <a:spcPts val="400"/>
              </a:spcAft>
            </a:pPr>
            <a:r>
              <a:rPr sz="1200" b="0">
                <a:solidFill>
                  <a:srgbClr val="CBD5E1"/>
                </a:solidFill>
                <a:latin typeface="Calibri"/>
              </a:rPr>
              <a:t>Miopatía inflamatoria</a:t>
            </a:r>
          </a:p>
        </p:txBody>
      </p:sp>
      <p:sp>
        <p:nvSpPr>
          <p:cNvPr id="25" name="Rounded Rectangle 24"/>
          <p:cNvSpPr/>
          <p:nvPr/>
        </p:nvSpPr>
        <p:spPr>
          <a:xfrm>
            <a:off x="640080" y="6044183"/>
            <a:ext cx="4343400" cy="548640"/>
          </a:xfrm>
          <a:prstGeom prst="roundRect">
            <a:avLst>
              <a:gd name="adj" fmla="val 10000"/>
            </a:avLst>
          </a:prstGeom>
          <a:solidFill>
            <a:srgbClr val="16244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6172199"/>
            <a:ext cx="4023360" cy="320040"/>
          </a:xfrm>
          <a:prstGeom prst="rect">
            <a:avLst/>
          </a:prstGeom>
          <a:noFill/>
        </p:spPr>
        <p:txBody>
          <a:bodyPr wrap="square" anchor="t">
            <a:spAutoFit/>
          </a:bodyPr>
          <a:lstStyle/>
          <a:p>
            <a:pPr algn="l">
              <a:spcAft>
                <a:spcPts val="400"/>
              </a:spcAft>
            </a:pPr>
            <a:r>
              <a:rPr sz="1200" b="0">
                <a:solidFill>
                  <a:srgbClr val="CBD5E1"/>
                </a:solidFill>
                <a:latin typeface="Calibri"/>
              </a:rPr>
              <a:t>Lesión de neurona motora superior</a:t>
            </a:r>
          </a:p>
        </p:txBody>
      </p:sp>
      <p:sp>
        <p:nvSpPr>
          <p:cNvPr id="27" name="Rounded Rectangle 26"/>
          <p:cNvSpPr/>
          <p:nvPr/>
        </p:nvSpPr>
        <p:spPr>
          <a:xfrm>
            <a:off x="5349240" y="1828800"/>
            <a:ext cx="3337560" cy="1143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1938528"/>
            <a:ext cx="3017520" cy="292608"/>
          </a:xfrm>
          <a:prstGeom prst="rect">
            <a:avLst/>
          </a:prstGeom>
          <a:noFill/>
        </p:spPr>
        <p:txBody>
          <a:bodyPr wrap="square" anchor="t">
            <a:spAutoFit/>
          </a:bodyPr>
          <a:lstStyle/>
          <a:p>
            <a:pPr algn="l">
              <a:spcAft>
                <a:spcPts val="400"/>
              </a:spcAft>
            </a:pPr>
            <a:r>
              <a:rPr sz="1600" b="1">
                <a:solidFill>
                  <a:srgbClr val="06B6D4"/>
                </a:solidFill>
                <a:latin typeface="Calibri"/>
              </a:rPr>
              <a:t>70%</a:t>
            </a:r>
          </a:p>
        </p:txBody>
      </p:sp>
      <p:sp>
        <p:nvSpPr>
          <p:cNvPr id="29" name="TextBox 28"/>
          <p:cNvSpPr txBox="1"/>
          <p:nvPr/>
        </p:nvSpPr>
        <p:spPr>
          <a:xfrm>
            <a:off x="5532120" y="2267712"/>
            <a:ext cx="3017520" cy="594360"/>
          </a:xfrm>
          <a:prstGeom prst="rect">
            <a:avLst/>
          </a:prstGeom>
          <a:noFill/>
        </p:spPr>
        <p:txBody>
          <a:bodyPr wrap="square" anchor="t">
            <a:spAutoFit/>
          </a:bodyPr>
          <a:lstStyle/>
          <a:p>
            <a:pPr algn="l">
              <a:spcAft>
                <a:spcPts val="400"/>
              </a:spcAft>
            </a:pPr>
            <a:r>
              <a:rPr sz="1100" b="0">
                <a:solidFill>
                  <a:srgbClr val="CBD5E1"/>
                </a:solidFill>
                <a:latin typeface="Calibri"/>
              </a:rPr>
              <a:t>Umbral para aprobar el tema. Configurable, este es el valor por defecto.</a:t>
            </a:r>
          </a:p>
        </p:txBody>
      </p:sp>
      <p:sp>
        <p:nvSpPr>
          <p:cNvPr id="30" name="Rounded Rectangle 29"/>
          <p:cNvSpPr/>
          <p:nvPr/>
        </p:nvSpPr>
        <p:spPr>
          <a:xfrm>
            <a:off x="5349240" y="3090672"/>
            <a:ext cx="3337560" cy="1143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32120" y="3200400"/>
            <a:ext cx="3017520" cy="292608"/>
          </a:xfrm>
          <a:prstGeom prst="rect">
            <a:avLst/>
          </a:prstGeom>
          <a:noFill/>
        </p:spPr>
        <p:txBody>
          <a:bodyPr wrap="square" anchor="t">
            <a:spAutoFit/>
          </a:bodyPr>
          <a:lstStyle/>
          <a:p>
            <a:pPr algn="l">
              <a:spcAft>
                <a:spcPts val="400"/>
              </a:spcAft>
            </a:pPr>
            <a:r>
              <a:rPr sz="1600" b="1">
                <a:solidFill>
                  <a:srgbClr val="06B6D4"/>
                </a:solidFill>
                <a:latin typeface="Calibri"/>
              </a:rPr>
              <a:t>Aleatorio</a:t>
            </a:r>
          </a:p>
        </p:txBody>
      </p:sp>
      <p:sp>
        <p:nvSpPr>
          <p:cNvPr id="32" name="TextBox 31"/>
          <p:cNvSpPr txBox="1"/>
          <p:nvPr/>
        </p:nvSpPr>
        <p:spPr>
          <a:xfrm>
            <a:off x="5532120" y="3529584"/>
            <a:ext cx="3017520" cy="594360"/>
          </a:xfrm>
          <a:prstGeom prst="rect">
            <a:avLst/>
          </a:prstGeom>
          <a:noFill/>
        </p:spPr>
        <p:txBody>
          <a:bodyPr wrap="square" anchor="t">
            <a:spAutoFit/>
          </a:bodyPr>
          <a:lstStyle/>
          <a:p>
            <a:pPr algn="l">
              <a:spcAft>
                <a:spcPts val="400"/>
              </a:spcAft>
            </a:pPr>
            <a:r>
              <a:rPr sz="1100" b="0">
                <a:solidFill>
                  <a:srgbClr val="CBD5E1"/>
                </a:solidFill>
                <a:latin typeface="Calibri"/>
              </a:rPr>
              <a:t>Preguntas y opciones se mezclan. No memorices posiciones.</a:t>
            </a:r>
          </a:p>
        </p:txBody>
      </p:sp>
      <p:sp>
        <p:nvSpPr>
          <p:cNvPr id="33" name="Rounded Rectangle 32"/>
          <p:cNvSpPr/>
          <p:nvPr/>
        </p:nvSpPr>
        <p:spPr>
          <a:xfrm>
            <a:off x="5349240" y="4352544"/>
            <a:ext cx="3337560" cy="1143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32120" y="4462272"/>
            <a:ext cx="3017520" cy="292608"/>
          </a:xfrm>
          <a:prstGeom prst="rect">
            <a:avLst/>
          </a:prstGeom>
          <a:noFill/>
        </p:spPr>
        <p:txBody>
          <a:bodyPr wrap="square" anchor="t">
            <a:spAutoFit/>
          </a:bodyPr>
          <a:lstStyle/>
          <a:p>
            <a:pPr algn="l">
              <a:spcAft>
                <a:spcPts val="400"/>
              </a:spcAft>
            </a:pPr>
            <a:r>
              <a:rPr sz="1600" b="1">
                <a:solidFill>
                  <a:srgbClr val="06B6D4"/>
                </a:solidFill>
                <a:latin typeface="Calibri"/>
              </a:rPr>
              <a:t>Sin corte</a:t>
            </a:r>
          </a:p>
        </p:txBody>
      </p:sp>
      <p:sp>
        <p:nvSpPr>
          <p:cNvPr id="35" name="TextBox 34"/>
          <p:cNvSpPr txBox="1"/>
          <p:nvPr/>
        </p:nvSpPr>
        <p:spPr>
          <a:xfrm>
            <a:off x="5532120" y="4791456"/>
            <a:ext cx="3017520" cy="594360"/>
          </a:xfrm>
          <a:prstGeom prst="rect">
            <a:avLst/>
          </a:prstGeom>
          <a:noFill/>
        </p:spPr>
        <p:txBody>
          <a:bodyPr wrap="square" anchor="t">
            <a:spAutoFit/>
          </a:bodyPr>
          <a:lstStyle/>
          <a:p>
            <a:pPr algn="l">
              <a:spcAft>
                <a:spcPts val="400"/>
              </a:spcAft>
            </a:pPr>
            <a:r>
              <a:rPr sz="1100" b="0">
                <a:solidFill>
                  <a:srgbClr val="CBD5E1"/>
                </a:solidFill>
                <a:latin typeface="Calibri"/>
              </a:rPr>
              <a:t>El cronómetro solo registra duración. Tómate tu tiempo.</a:t>
            </a:r>
          </a:p>
        </p:txBody>
      </p:sp>
      <p:sp>
        <p:nvSpPr>
          <p:cNvPr id="36" name="Rounded Rectangle 35"/>
          <p:cNvSpPr/>
          <p:nvPr/>
        </p:nvSpPr>
        <p:spPr>
          <a:xfrm>
            <a:off x="5349240" y="5614416"/>
            <a:ext cx="3337560" cy="1143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32120" y="5724144"/>
            <a:ext cx="3017520" cy="292608"/>
          </a:xfrm>
          <a:prstGeom prst="rect">
            <a:avLst/>
          </a:prstGeom>
          <a:noFill/>
        </p:spPr>
        <p:txBody>
          <a:bodyPr wrap="square" anchor="t">
            <a:spAutoFit/>
          </a:bodyPr>
          <a:lstStyle/>
          <a:p>
            <a:pPr algn="l">
              <a:spcAft>
                <a:spcPts val="400"/>
              </a:spcAft>
            </a:pPr>
            <a:r>
              <a:rPr sz="1600" b="1">
                <a:solidFill>
                  <a:srgbClr val="06B6D4"/>
                </a:solidFill>
                <a:latin typeface="Calibri"/>
              </a:rPr>
              <a:t>Al terminar</a:t>
            </a:r>
          </a:p>
        </p:txBody>
      </p:sp>
      <p:sp>
        <p:nvSpPr>
          <p:cNvPr id="38" name="TextBox 37"/>
          <p:cNvSpPr txBox="1"/>
          <p:nvPr/>
        </p:nvSpPr>
        <p:spPr>
          <a:xfrm>
            <a:off x="5532120" y="6053327"/>
            <a:ext cx="3017520" cy="594360"/>
          </a:xfrm>
          <a:prstGeom prst="rect">
            <a:avLst/>
          </a:prstGeom>
          <a:noFill/>
        </p:spPr>
        <p:txBody>
          <a:bodyPr wrap="square" anchor="t">
            <a:spAutoFit/>
          </a:bodyPr>
          <a:lstStyle/>
          <a:p>
            <a:pPr algn="l">
              <a:spcAft>
                <a:spcPts val="400"/>
              </a:spcAft>
            </a:pPr>
            <a:r>
              <a:rPr sz="1100" b="0">
                <a:solidFill>
                  <a:srgbClr val="CBD5E1"/>
                </a:solidFill>
                <a:latin typeface="Calibri"/>
              </a:rPr>
              <a:t>Ves la respuesta correcta y la perla clínica oficial. Léelas todas.</a:t>
            </a:r>
          </a:p>
        </p:txBody>
      </p:sp>
      <p:sp>
        <p:nvSpPr>
          <p:cNvPr id="39" name="Rounded Rectangle 38"/>
          <p:cNvSpPr/>
          <p:nvPr/>
        </p:nvSpPr>
        <p:spPr>
          <a:xfrm>
            <a:off x="5349240" y="6876288"/>
            <a:ext cx="3337560" cy="1143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6986016"/>
            <a:ext cx="3017520" cy="292608"/>
          </a:xfrm>
          <a:prstGeom prst="rect">
            <a:avLst/>
          </a:prstGeom>
          <a:noFill/>
        </p:spPr>
        <p:txBody>
          <a:bodyPr wrap="square" anchor="t">
            <a:spAutoFit/>
          </a:bodyPr>
          <a:lstStyle/>
          <a:p>
            <a:pPr algn="l">
              <a:spcAft>
                <a:spcPts val="400"/>
              </a:spcAft>
            </a:pPr>
            <a:r>
              <a:rPr sz="1600" b="1">
                <a:solidFill>
                  <a:srgbClr val="06B6D4"/>
                </a:solidFill>
                <a:latin typeface="Calibri"/>
              </a:rPr>
              <a:t>Reintentos</a:t>
            </a:r>
          </a:p>
        </p:txBody>
      </p:sp>
      <p:sp>
        <p:nvSpPr>
          <p:cNvPr id="41" name="TextBox 40"/>
          <p:cNvSpPr txBox="1"/>
          <p:nvPr/>
        </p:nvSpPr>
        <p:spPr>
          <a:xfrm>
            <a:off x="5532120" y="7315200"/>
            <a:ext cx="3017520" cy="594360"/>
          </a:xfrm>
          <a:prstGeom prst="rect">
            <a:avLst/>
          </a:prstGeom>
          <a:noFill/>
        </p:spPr>
        <p:txBody>
          <a:bodyPr wrap="square" anchor="t">
            <a:spAutoFit/>
          </a:bodyPr>
          <a:lstStyle/>
          <a:p>
            <a:pPr algn="l">
              <a:spcAft>
                <a:spcPts val="400"/>
              </a:spcAft>
            </a:pPr>
            <a:r>
              <a:rPr sz="1100" b="0">
                <a:solidFill>
                  <a:srgbClr val="CBD5E1"/>
                </a:solidFill>
                <a:latin typeface="Calibri"/>
              </a:rPr>
              <a:t>Puedes volver a intentar. Al aprobar, el tema se marca completado.</a:t>
            </a:r>
          </a:p>
        </p:txBody>
      </p:sp>
      <p:sp>
        <p:nvSpPr>
          <p:cNvPr id="42" name="Rounded Rectangle 41"/>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080" y="8732520"/>
            <a:ext cx="4625788"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45" name="TextBox 44"/>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10  /  17</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SIMULACROS Y TAREAS</a:t>
            </a:r>
          </a:p>
        </p:txBody>
      </p:sp>
      <p:sp>
        <p:nvSpPr>
          <p:cNvPr id="8" name="TextBox 7"/>
          <p:cNvSpPr txBox="1"/>
          <p:nvPr/>
        </p:nvSpPr>
        <p:spPr>
          <a:xfrm>
            <a:off x="502920" y="1207008"/>
            <a:ext cx="8138160" cy="640080"/>
          </a:xfrm>
          <a:prstGeom prst="rect">
            <a:avLst/>
          </a:prstGeom>
          <a:noFill/>
        </p:spPr>
        <p:txBody>
          <a:bodyPr wrap="square" anchor="t">
            <a:spAutoFit/>
          </a:bodyPr>
          <a:lstStyle/>
          <a:p>
            <a:pPr algn="l">
              <a:spcAft>
                <a:spcPts val="400"/>
              </a:spcAft>
            </a:pPr>
            <a:r>
              <a:rPr sz="2600" b="1">
                <a:solidFill>
                  <a:srgbClr val="FFFFFF"/>
                </a:solidFill>
                <a:latin typeface="Calibri"/>
              </a:rPr>
              <a:t>Practica en Tutor. Mídete en Examen.</a:t>
            </a:r>
          </a:p>
        </p:txBody>
      </p:sp>
      <p:sp>
        <p:nvSpPr>
          <p:cNvPr id="9" name="Rounded Rectangle 8"/>
          <p:cNvSpPr/>
          <p:nvPr/>
        </p:nvSpPr>
        <p:spPr>
          <a:xfrm>
            <a:off x="457200" y="2011680"/>
            <a:ext cx="3977639" cy="19659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67712"/>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Tú eliges</a:t>
            </a:r>
          </a:p>
        </p:txBody>
      </p:sp>
      <p:sp>
        <p:nvSpPr>
          <p:cNvPr id="11" name="TextBox 10"/>
          <p:cNvSpPr txBox="1"/>
          <p:nvPr/>
        </p:nvSpPr>
        <p:spPr>
          <a:xfrm>
            <a:off x="685800" y="2788920"/>
            <a:ext cx="3566160" cy="914400"/>
          </a:xfrm>
          <a:prstGeom prst="rect">
            <a:avLst/>
          </a:prstGeom>
          <a:noFill/>
        </p:spPr>
        <p:txBody>
          <a:bodyPr wrap="square" anchor="t">
            <a:spAutoFit/>
          </a:bodyPr>
          <a:lstStyle/>
          <a:p>
            <a:pPr algn="l">
              <a:spcAft>
                <a:spcPts val="400"/>
              </a:spcAft>
            </a:pPr>
            <a:r>
              <a:rPr sz="1400" b="0">
                <a:solidFill>
                  <a:srgbClr val="CBD5E1"/>
                </a:solidFill>
                <a:latin typeface="Calibri"/>
              </a:rPr>
              <a:t>10, 20, 50 o todas las preguntas. Cronómetro opcional de 15 a 90 minutos.</a:t>
            </a:r>
          </a:p>
        </p:txBody>
      </p:sp>
      <p:sp>
        <p:nvSpPr>
          <p:cNvPr id="12" name="Rounded Rectangle 11"/>
          <p:cNvSpPr/>
          <p:nvPr/>
        </p:nvSpPr>
        <p:spPr>
          <a:xfrm>
            <a:off x="4617720" y="2011680"/>
            <a:ext cx="3977639" cy="19659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2267712"/>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Modo Tutor</a:t>
            </a:r>
          </a:p>
        </p:txBody>
      </p:sp>
      <p:sp>
        <p:nvSpPr>
          <p:cNvPr id="14" name="TextBox 13"/>
          <p:cNvSpPr txBox="1"/>
          <p:nvPr/>
        </p:nvSpPr>
        <p:spPr>
          <a:xfrm>
            <a:off x="4846320" y="2788920"/>
            <a:ext cx="3566160" cy="914400"/>
          </a:xfrm>
          <a:prstGeom prst="rect">
            <a:avLst/>
          </a:prstGeom>
          <a:noFill/>
        </p:spPr>
        <p:txBody>
          <a:bodyPr wrap="square" anchor="t">
            <a:spAutoFit/>
          </a:bodyPr>
          <a:lstStyle/>
          <a:p>
            <a:pPr algn="l">
              <a:spcAft>
                <a:spcPts val="400"/>
              </a:spcAft>
            </a:pPr>
            <a:r>
              <a:rPr sz="1400" b="0">
                <a:solidFill>
                  <a:srgbClr val="CBD5E1"/>
                </a:solidFill>
                <a:latin typeface="Calibri"/>
              </a:rPr>
              <a:t>Te dice si acertaste inmediatamente. Úsalo para aprender.</a:t>
            </a:r>
          </a:p>
        </p:txBody>
      </p:sp>
      <p:sp>
        <p:nvSpPr>
          <p:cNvPr id="15" name="Rounded Rectangle 14"/>
          <p:cNvSpPr/>
          <p:nvPr/>
        </p:nvSpPr>
        <p:spPr>
          <a:xfrm>
            <a:off x="457200" y="4160520"/>
            <a:ext cx="3977639" cy="19659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416552"/>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Modo Examen</a:t>
            </a:r>
          </a:p>
        </p:txBody>
      </p:sp>
      <p:sp>
        <p:nvSpPr>
          <p:cNvPr id="17" name="TextBox 16"/>
          <p:cNvSpPr txBox="1"/>
          <p:nvPr/>
        </p:nvSpPr>
        <p:spPr>
          <a:xfrm>
            <a:off x="685800" y="4937760"/>
            <a:ext cx="3566160" cy="914400"/>
          </a:xfrm>
          <a:prstGeom prst="rect">
            <a:avLst/>
          </a:prstGeom>
          <a:noFill/>
        </p:spPr>
        <p:txBody>
          <a:bodyPr wrap="square" anchor="t">
            <a:spAutoFit/>
          </a:bodyPr>
          <a:lstStyle/>
          <a:p>
            <a:pPr algn="l">
              <a:spcAft>
                <a:spcPts val="400"/>
              </a:spcAft>
            </a:pPr>
            <a:r>
              <a:rPr sz="1400" b="0">
                <a:solidFill>
                  <a:srgbClr val="CBD5E1"/>
                </a:solidFill>
                <a:latin typeface="Calibri"/>
              </a:rPr>
              <a:t>No ves nada hasta el final. Condiciones parecidas a las del consejo.</a:t>
            </a:r>
          </a:p>
        </p:txBody>
      </p:sp>
      <p:sp>
        <p:nvSpPr>
          <p:cNvPr id="18" name="Rounded Rectangle 17"/>
          <p:cNvSpPr/>
          <p:nvPr/>
        </p:nvSpPr>
        <p:spPr>
          <a:xfrm>
            <a:off x="4617720" y="4160520"/>
            <a:ext cx="3977639" cy="19659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4416552"/>
            <a:ext cx="3566160" cy="411480"/>
          </a:xfrm>
          <a:prstGeom prst="rect">
            <a:avLst/>
          </a:prstGeom>
          <a:noFill/>
        </p:spPr>
        <p:txBody>
          <a:bodyPr wrap="square" anchor="t">
            <a:spAutoFit/>
          </a:bodyPr>
          <a:lstStyle/>
          <a:p>
            <a:pPr algn="l">
              <a:spcAft>
                <a:spcPts val="400"/>
              </a:spcAft>
            </a:pPr>
            <a:r>
              <a:rPr sz="1800" b="1">
                <a:solidFill>
                  <a:srgbClr val="FFFFFF"/>
                </a:solidFill>
                <a:latin typeface="Calibri"/>
              </a:rPr>
              <a:t>No acreditan tema</a:t>
            </a:r>
          </a:p>
        </p:txBody>
      </p:sp>
      <p:sp>
        <p:nvSpPr>
          <p:cNvPr id="20" name="TextBox 19"/>
          <p:cNvSpPr txBox="1"/>
          <p:nvPr/>
        </p:nvSpPr>
        <p:spPr>
          <a:xfrm>
            <a:off x="4846320" y="4937760"/>
            <a:ext cx="3566160" cy="914400"/>
          </a:xfrm>
          <a:prstGeom prst="rect">
            <a:avLst/>
          </a:prstGeom>
          <a:noFill/>
        </p:spPr>
        <p:txBody>
          <a:bodyPr wrap="square" anchor="t">
            <a:spAutoFit/>
          </a:bodyPr>
          <a:lstStyle/>
          <a:p>
            <a:pPr algn="l">
              <a:spcAft>
                <a:spcPts val="400"/>
              </a:spcAft>
            </a:pPr>
            <a:r>
              <a:rPr sz="1400" b="0">
                <a:solidFill>
                  <a:srgbClr val="CBD5E1"/>
                </a:solidFill>
                <a:latin typeface="Calibri"/>
              </a:rPr>
              <a:t>Los simulacros del hub no marcan lecciones del temario como completadas.</a:t>
            </a:r>
          </a:p>
        </p:txBody>
      </p:sp>
      <p:sp>
        <p:nvSpPr>
          <p:cNvPr id="21" name="Rounded Rectangle 20"/>
          <p:cNvSpPr/>
          <p:nvPr/>
        </p:nvSpPr>
        <p:spPr>
          <a:xfrm>
            <a:off x="457200" y="6446520"/>
            <a:ext cx="8229600" cy="1783080"/>
          </a:xfrm>
          <a:prstGeom prst="roundRect">
            <a:avLst>
              <a:gd name="adj" fmla="val 10000"/>
            </a:avLst>
          </a:prstGeom>
          <a:solidFill>
            <a:srgbClr val="3A2A0C"/>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629400"/>
            <a:ext cx="7680960" cy="365760"/>
          </a:xfrm>
          <a:prstGeom prst="rect">
            <a:avLst/>
          </a:prstGeom>
          <a:noFill/>
        </p:spPr>
        <p:txBody>
          <a:bodyPr wrap="square" anchor="t">
            <a:spAutoFit/>
          </a:bodyPr>
          <a:lstStyle/>
          <a:p>
            <a:pPr algn="l">
              <a:spcAft>
                <a:spcPts val="400"/>
              </a:spcAft>
            </a:pPr>
            <a:r>
              <a:rPr sz="1600" b="1">
                <a:solidFill>
                  <a:srgbClr val="FBBF24"/>
                </a:solidFill>
                <a:latin typeface="Calibri"/>
              </a:rPr>
              <a:t>Examen asignado por el profesor</a:t>
            </a:r>
          </a:p>
        </p:txBody>
      </p:sp>
      <p:sp>
        <p:nvSpPr>
          <p:cNvPr id="23" name="TextBox 22"/>
          <p:cNvSpPr txBox="1"/>
          <p:nvPr/>
        </p:nvSpPr>
        <p:spPr>
          <a:xfrm>
            <a:off x="731520" y="7040880"/>
            <a:ext cx="7680960" cy="960120"/>
          </a:xfrm>
          <a:prstGeom prst="rect">
            <a:avLst/>
          </a:prstGeom>
          <a:noFill/>
        </p:spPr>
        <p:txBody>
          <a:bodyPr wrap="square" anchor="t">
            <a:spAutoFit/>
          </a:bodyPr>
          <a:lstStyle/>
          <a:p>
            <a:pPr algn="l">
              <a:spcAft>
                <a:spcPts val="400"/>
              </a:spcAft>
            </a:pPr>
            <a:r>
              <a:rPr sz="1400" b="0">
                <a:solidFill>
                  <a:srgbClr val="CBD5E1"/>
                </a:solidFill>
                <a:latin typeface="Calibri"/>
              </a:rPr>
              <a:t>Aparece en Tareas. El cronómetro sigue aunque cierres la pestaña. Al llegar a cero se envía solo. No lo abras “para echar un ojo”.</a:t>
            </a:r>
          </a:p>
        </p:txBody>
      </p:sp>
      <p:sp>
        <p:nvSpPr>
          <p:cNvPr id="24" name="Rounded Rectangle 23"/>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8732520"/>
            <a:ext cx="5088367"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27" name="TextBox 26"/>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11  /  17</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PRÁCTICA</a:t>
            </a:r>
          </a:p>
        </p:txBody>
      </p:sp>
      <p:sp>
        <p:nvSpPr>
          <p:cNvPr id="8" name="TextBox 7"/>
          <p:cNvSpPr txBox="1"/>
          <p:nvPr/>
        </p:nvSpPr>
        <p:spPr>
          <a:xfrm>
            <a:off x="502920" y="1207008"/>
            <a:ext cx="8138160" cy="502920"/>
          </a:xfrm>
          <a:prstGeom prst="rect">
            <a:avLst/>
          </a:prstGeom>
          <a:noFill/>
        </p:spPr>
        <p:txBody>
          <a:bodyPr wrap="square" anchor="t">
            <a:spAutoFit/>
          </a:bodyPr>
          <a:lstStyle/>
          <a:p>
            <a:pPr algn="l">
              <a:spcAft>
                <a:spcPts val="400"/>
              </a:spcAft>
            </a:pPr>
            <a:r>
              <a:rPr sz="2600" b="1">
                <a:solidFill>
                  <a:srgbClr val="FFFFFF"/>
                </a:solidFill>
                <a:latin typeface="Calibri"/>
              </a:rPr>
              <a:t>Leer trazos, no solo memorizarlos</a:t>
            </a:r>
          </a:p>
        </p:txBody>
      </p:sp>
      <p:sp>
        <p:nvSpPr>
          <p:cNvPr id="9" name="Rounded Rectangle 8"/>
          <p:cNvSpPr/>
          <p:nvPr/>
        </p:nvSpPr>
        <p:spPr>
          <a:xfrm>
            <a:off x="457200" y="1874519"/>
            <a:ext cx="3977639" cy="21488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075688"/>
            <a:ext cx="640080" cy="292608"/>
          </a:xfrm>
          <a:prstGeom prst="roundRect">
            <a:avLst>
              <a:gd name="adj" fmla="val 50000"/>
            </a:avLst>
          </a:prstGeom>
          <a:solidFill>
            <a:srgbClr val="3A2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112264"/>
            <a:ext cx="640080" cy="256032"/>
          </a:xfrm>
          <a:prstGeom prst="rect">
            <a:avLst/>
          </a:prstGeom>
          <a:noFill/>
        </p:spPr>
        <p:txBody>
          <a:bodyPr wrap="square" anchor="ctr">
            <a:spAutoFit/>
          </a:bodyPr>
          <a:lstStyle/>
          <a:p>
            <a:pPr algn="ctr">
              <a:spcAft>
                <a:spcPts val="400"/>
              </a:spcAft>
            </a:pPr>
            <a:r>
              <a:rPr sz="1100" b="1">
                <a:solidFill>
                  <a:srgbClr val="FBBF24"/>
                </a:solidFill>
                <a:latin typeface="Calibri"/>
              </a:rPr>
              <a:t>PRO</a:t>
            </a:r>
          </a:p>
        </p:txBody>
      </p:sp>
      <p:sp>
        <p:nvSpPr>
          <p:cNvPr id="12" name="TextBox 11"/>
          <p:cNvSpPr txBox="1"/>
          <p:nvPr/>
        </p:nvSpPr>
        <p:spPr>
          <a:xfrm>
            <a:off x="658368" y="2514600"/>
            <a:ext cx="3611880" cy="502920"/>
          </a:xfrm>
          <a:prstGeom prst="rect">
            <a:avLst/>
          </a:prstGeom>
          <a:noFill/>
        </p:spPr>
        <p:txBody>
          <a:bodyPr wrap="square" anchor="t">
            <a:spAutoFit/>
          </a:bodyPr>
          <a:lstStyle/>
          <a:p>
            <a:pPr algn="l">
              <a:spcAft>
                <a:spcPts val="400"/>
              </a:spcAft>
            </a:pPr>
            <a:r>
              <a:rPr sz="1600" b="1">
                <a:solidFill>
                  <a:srgbClr val="FFFFFF"/>
                </a:solidFill>
                <a:latin typeface="Calibri"/>
              </a:rPr>
              <a:t>Mapa del plexo braquial</a:t>
            </a:r>
          </a:p>
        </p:txBody>
      </p:sp>
      <p:sp>
        <p:nvSpPr>
          <p:cNvPr id="13" name="TextBox 12"/>
          <p:cNvSpPr txBox="1"/>
          <p:nvPr/>
        </p:nvSpPr>
        <p:spPr>
          <a:xfrm>
            <a:off x="658368" y="3063239"/>
            <a:ext cx="3611880" cy="731520"/>
          </a:xfrm>
          <a:prstGeom prst="rect">
            <a:avLst/>
          </a:prstGeom>
          <a:noFill/>
        </p:spPr>
        <p:txBody>
          <a:bodyPr wrap="square" anchor="t">
            <a:spAutoFit/>
          </a:bodyPr>
          <a:lstStyle/>
          <a:p>
            <a:pPr algn="l">
              <a:spcAft>
                <a:spcPts val="400"/>
              </a:spcAft>
            </a:pPr>
            <a:r>
              <a:rPr sz="1300" b="0">
                <a:solidFill>
                  <a:srgbClr val="CBD5E1"/>
                </a:solidFill>
                <a:latin typeface="Calibri"/>
              </a:rPr>
              <a:t>Algoritmo de 5 pasos: raíces C5–T1, troncos y cordones.</a:t>
            </a:r>
          </a:p>
        </p:txBody>
      </p:sp>
      <p:sp>
        <p:nvSpPr>
          <p:cNvPr id="14" name="Rounded Rectangle 13"/>
          <p:cNvSpPr/>
          <p:nvPr/>
        </p:nvSpPr>
        <p:spPr>
          <a:xfrm>
            <a:off x="4617720" y="1874519"/>
            <a:ext cx="3977639" cy="21488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18888" y="2075688"/>
            <a:ext cx="640080" cy="292608"/>
          </a:xfrm>
          <a:prstGeom prst="roundRect">
            <a:avLst>
              <a:gd name="adj" fmla="val 50000"/>
            </a:avLst>
          </a:prstGeom>
          <a:solidFill>
            <a:srgbClr val="3A2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2112264"/>
            <a:ext cx="640080" cy="256032"/>
          </a:xfrm>
          <a:prstGeom prst="rect">
            <a:avLst/>
          </a:prstGeom>
          <a:noFill/>
        </p:spPr>
        <p:txBody>
          <a:bodyPr wrap="square" anchor="ctr">
            <a:spAutoFit/>
          </a:bodyPr>
          <a:lstStyle/>
          <a:p>
            <a:pPr algn="ctr">
              <a:spcAft>
                <a:spcPts val="400"/>
              </a:spcAft>
            </a:pPr>
            <a:r>
              <a:rPr sz="1100" b="1">
                <a:solidFill>
                  <a:srgbClr val="FBBF24"/>
                </a:solidFill>
                <a:latin typeface="Calibri"/>
              </a:rPr>
              <a:t>PRO</a:t>
            </a:r>
          </a:p>
        </p:txBody>
      </p:sp>
      <p:sp>
        <p:nvSpPr>
          <p:cNvPr id="17" name="TextBox 16"/>
          <p:cNvSpPr txBox="1"/>
          <p:nvPr/>
        </p:nvSpPr>
        <p:spPr>
          <a:xfrm>
            <a:off x="4818888" y="2514600"/>
            <a:ext cx="3611880" cy="502920"/>
          </a:xfrm>
          <a:prstGeom prst="rect">
            <a:avLst/>
          </a:prstGeom>
          <a:noFill/>
        </p:spPr>
        <p:txBody>
          <a:bodyPr wrap="square" anchor="t">
            <a:spAutoFit/>
          </a:bodyPr>
          <a:lstStyle/>
          <a:p>
            <a:pPr algn="l">
              <a:spcAft>
                <a:spcPts val="400"/>
              </a:spcAft>
            </a:pPr>
            <a:r>
              <a:rPr sz="1600" b="1">
                <a:solidFill>
                  <a:srgbClr val="FFFFFF"/>
                </a:solidFill>
                <a:latin typeface="Calibri"/>
              </a:rPr>
              <a:t>Casos clínicos EMG</a:t>
            </a:r>
          </a:p>
        </p:txBody>
      </p:sp>
      <p:sp>
        <p:nvSpPr>
          <p:cNvPr id="18" name="TextBox 17"/>
          <p:cNvSpPr txBox="1"/>
          <p:nvPr/>
        </p:nvSpPr>
        <p:spPr>
          <a:xfrm>
            <a:off x="4818888" y="3063239"/>
            <a:ext cx="3611880" cy="731520"/>
          </a:xfrm>
          <a:prstGeom prst="rect">
            <a:avLst/>
          </a:prstGeom>
          <a:noFill/>
        </p:spPr>
        <p:txBody>
          <a:bodyPr wrap="square" anchor="t">
            <a:spAutoFit/>
          </a:bodyPr>
          <a:lstStyle/>
          <a:p>
            <a:pPr algn="l">
              <a:spcAft>
                <a:spcPts val="400"/>
              </a:spcAft>
            </a:pPr>
            <a:r>
              <a:rPr sz="1300" b="0">
                <a:solidFill>
                  <a:srgbClr val="CBD5E1"/>
                </a:solidFill>
                <a:latin typeface="Calibri"/>
              </a:rPr>
              <a:t>Más de 30 casos: historia, NCS, aguja, diagnóstico y retroalimentación.</a:t>
            </a:r>
          </a:p>
        </p:txBody>
      </p:sp>
      <p:sp>
        <p:nvSpPr>
          <p:cNvPr id="19" name="Rounded Rectangle 18"/>
          <p:cNvSpPr/>
          <p:nvPr/>
        </p:nvSpPr>
        <p:spPr>
          <a:xfrm>
            <a:off x="457200" y="4206240"/>
            <a:ext cx="3977639" cy="21488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4407407"/>
            <a:ext cx="640080" cy="292608"/>
          </a:xfrm>
          <a:prstGeom prst="roundRect">
            <a:avLst>
              <a:gd name="adj" fmla="val 50000"/>
            </a:avLst>
          </a:prstGeom>
          <a:solidFill>
            <a:srgbClr val="3A2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443983"/>
            <a:ext cx="640080" cy="256032"/>
          </a:xfrm>
          <a:prstGeom prst="rect">
            <a:avLst/>
          </a:prstGeom>
          <a:noFill/>
        </p:spPr>
        <p:txBody>
          <a:bodyPr wrap="square" anchor="ctr">
            <a:spAutoFit/>
          </a:bodyPr>
          <a:lstStyle/>
          <a:p>
            <a:pPr algn="ctr">
              <a:spcAft>
                <a:spcPts val="400"/>
              </a:spcAft>
            </a:pPr>
            <a:r>
              <a:rPr sz="1100" b="1">
                <a:solidFill>
                  <a:srgbClr val="FBBF24"/>
                </a:solidFill>
                <a:latin typeface="Calibri"/>
              </a:rPr>
              <a:t>PRO</a:t>
            </a:r>
          </a:p>
        </p:txBody>
      </p:sp>
      <p:sp>
        <p:nvSpPr>
          <p:cNvPr id="22" name="TextBox 21"/>
          <p:cNvSpPr txBox="1"/>
          <p:nvPr/>
        </p:nvSpPr>
        <p:spPr>
          <a:xfrm>
            <a:off x="658368" y="4846320"/>
            <a:ext cx="3611880" cy="502920"/>
          </a:xfrm>
          <a:prstGeom prst="rect">
            <a:avLst/>
          </a:prstGeom>
          <a:noFill/>
        </p:spPr>
        <p:txBody>
          <a:bodyPr wrap="square" anchor="t">
            <a:spAutoFit/>
          </a:bodyPr>
          <a:lstStyle/>
          <a:p>
            <a:pPr algn="l">
              <a:spcAft>
                <a:spcPts val="400"/>
              </a:spcAft>
            </a:pPr>
            <a:r>
              <a:rPr sz="1600" b="1">
                <a:solidFill>
                  <a:srgbClr val="FFFFFF"/>
                </a:solidFill>
                <a:latin typeface="Calibri"/>
              </a:rPr>
              <a:t>Simulador de trazos</a:t>
            </a:r>
          </a:p>
        </p:txBody>
      </p:sp>
      <p:sp>
        <p:nvSpPr>
          <p:cNvPr id="23" name="TextBox 22"/>
          <p:cNvSpPr txBox="1"/>
          <p:nvPr/>
        </p:nvSpPr>
        <p:spPr>
          <a:xfrm>
            <a:off x="658368" y="5394959"/>
            <a:ext cx="3611880" cy="731520"/>
          </a:xfrm>
          <a:prstGeom prst="rect">
            <a:avLst/>
          </a:prstGeom>
          <a:noFill/>
        </p:spPr>
        <p:txBody>
          <a:bodyPr wrap="square" anchor="t">
            <a:spAutoFit/>
          </a:bodyPr>
          <a:lstStyle/>
          <a:p>
            <a:pPr algn="l">
              <a:spcAft>
                <a:spcPts val="400"/>
              </a:spcAft>
            </a:pPr>
            <a:r>
              <a:rPr sz="1300" b="0">
                <a:solidFill>
                  <a:srgbClr val="CBD5E1"/>
                </a:solidFill>
                <a:latin typeface="Calibri"/>
              </a:rPr>
              <a:t>Compara CMAP y SNAP normal vs patológico, lado a lado.</a:t>
            </a:r>
          </a:p>
        </p:txBody>
      </p:sp>
      <p:sp>
        <p:nvSpPr>
          <p:cNvPr id="24" name="Rounded Rectangle 23"/>
          <p:cNvSpPr/>
          <p:nvPr/>
        </p:nvSpPr>
        <p:spPr>
          <a:xfrm>
            <a:off x="4617720" y="4206240"/>
            <a:ext cx="3977639" cy="214884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818888" y="4407407"/>
            <a:ext cx="640080" cy="292608"/>
          </a:xfrm>
          <a:prstGeom prst="roundRect">
            <a:avLst>
              <a:gd name="adj" fmla="val 50000"/>
            </a:avLst>
          </a:prstGeom>
          <a:solidFill>
            <a:srgbClr val="3A2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8888" y="4443983"/>
            <a:ext cx="640080" cy="256032"/>
          </a:xfrm>
          <a:prstGeom prst="rect">
            <a:avLst/>
          </a:prstGeom>
          <a:noFill/>
        </p:spPr>
        <p:txBody>
          <a:bodyPr wrap="square" anchor="ctr">
            <a:spAutoFit/>
          </a:bodyPr>
          <a:lstStyle/>
          <a:p>
            <a:pPr algn="ctr">
              <a:spcAft>
                <a:spcPts val="400"/>
              </a:spcAft>
            </a:pPr>
            <a:r>
              <a:rPr sz="1100" b="1">
                <a:solidFill>
                  <a:srgbClr val="FBBF24"/>
                </a:solidFill>
                <a:latin typeface="Calibri"/>
              </a:rPr>
              <a:t>PRO</a:t>
            </a:r>
          </a:p>
        </p:txBody>
      </p:sp>
      <p:sp>
        <p:nvSpPr>
          <p:cNvPr id="27" name="TextBox 26"/>
          <p:cNvSpPr txBox="1"/>
          <p:nvPr/>
        </p:nvSpPr>
        <p:spPr>
          <a:xfrm>
            <a:off x="4818888" y="4846320"/>
            <a:ext cx="3611880" cy="502920"/>
          </a:xfrm>
          <a:prstGeom prst="rect">
            <a:avLst/>
          </a:prstGeom>
          <a:noFill/>
        </p:spPr>
        <p:txBody>
          <a:bodyPr wrap="square" anchor="t">
            <a:spAutoFit/>
          </a:bodyPr>
          <a:lstStyle/>
          <a:p>
            <a:pPr algn="l">
              <a:spcAft>
                <a:spcPts val="400"/>
              </a:spcAft>
            </a:pPr>
            <a:r>
              <a:rPr sz="1600" b="1">
                <a:solidFill>
                  <a:srgbClr val="FFFFFF"/>
                </a:solidFill>
                <a:latin typeface="Calibri"/>
              </a:rPr>
              <a:t>Examen tipo consejo</a:t>
            </a:r>
          </a:p>
        </p:txBody>
      </p:sp>
      <p:sp>
        <p:nvSpPr>
          <p:cNvPr id="28" name="TextBox 27"/>
          <p:cNvSpPr txBox="1"/>
          <p:nvPr/>
        </p:nvSpPr>
        <p:spPr>
          <a:xfrm>
            <a:off x="4818888" y="5394959"/>
            <a:ext cx="3611880" cy="731520"/>
          </a:xfrm>
          <a:prstGeom prst="rect">
            <a:avLst/>
          </a:prstGeom>
          <a:noFill/>
        </p:spPr>
        <p:txBody>
          <a:bodyPr wrap="square" anchor="t">
            <a:spAutoFit/>
          </a:bodyPr>
          <a:lstStyle/>
          <a:p>
            <a:pPr algn="l">
              <a:spcAft>
                <a:spcPts val="400"/>
              </a:spcAft>
            </a:pPr>
            <a:r>
              <a:rPr sz="1300" b="0">
                <a:solidFill>
                  <a:srgbClr val="CBD5E1"/>
                </a:solidFill>
                <a:latin typeface="Calibri"/>
              </a:rPr>
              <a:t>Simulacro cronometrado con análisis de brechas.</a:t>
            </a:r>
          </a:p>
        </p:txBody>
      </p:sp>
      <p:sp>
        <p:nvSpPr>
          <p:cNvPr id="29" name="TextBox 28"/>
          <p:cNvSpPr txBox="1"/>
          <p:nvPr/>
        </p:nvSpPr>
        <p:spPr>
          <a:xfrm>
            <a:off x="502920" y="6675120"/>
            <a:ext cx="8138160" cy="1463040"/>
          </a:xfrm>
          <a:prstGeom prst="rect">
            <a:avLst/>
          </a:prstGeom>
          <a:noFill/>
        </p:spPr>
        <p:txBody>
          <a:bodyPr wrap="square" anchor="t">
            <a:spAutoFit/>
          </a:bodyPr>
          <a:lstStyle/>
          <a:p>
            <a:pPr algn="ctr">
              <a:spcAft>
                <a:spcPts val="400"/>
              </a:spcAft>
            </a:pPr>
            <a:r>
              <a:rPr sz="1400" b="0">
                <a:solidFill>
                  <a:srgbClr val="CBD5E1"/>
                </a:solidFill>
                <a:latin typeface="Calibri"/>
              </a:rPr>
              <a:t>Incluye osciloscopio de NCS, audio de EMG de aguja, mapa de miotomas</a:t>
            </a:r>
          </a:p>
          <a:p>
            <a:pPr algn="ctr">
              <a:spcAft>
                <a:spcPts val="400"/>
              </a:spcAft>
            </a:pPr>
            <a:r>
              <a:rPr sz="1400" b="0">
                <a:solidFill>
                  <a:srgbClr val="CBD5E1"/>
                </a:solidFill>
                <a:latin typeface="Calibri"/>
              </a:rPr>
              <a:t>y casos con trampas técnicas: los que más enseñan.</a:t>
            </a:r>
          </a:p>
        </p:txBody>
      </p:sp>
      <p:sp>
        <p:nvSpPr>
          <p:cNvPr id="30" name="Rounded Rectangle 29"/>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0080" y="8732520"/>
            <a:ext cx="5550945"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33" name="TextBox 32"/>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12  /  17</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CIERRE ACADÉMICO</a:t>
            </a:r>
          </a:p>
        </p:txBody>
      </p:sp>
      <p:sp>
        <p:nvSpPr>
          <p:cNvPr id="8" name="TextBox 7"/>
          <p:cNvSpPr txBox="1"/>
          <p:nvPr/>
        </p:nvSpPr>
        <p:spPr>
          <a:xfrm>
            <a:off x="502920" y="1207008"/>
            <a:ext cx="8138160" cy="502920"/>
          </a:xfrm>
          <a:prstGeom prst="rect">
            <a:avLst/>
          </a:prstGeom>
          <a:noFill/>
        </p:spPr>
        <p:txBody>
          <a:bodyPr wrap="square" anchor="t">
            <a:spAutoFit/>
          </a:bodyPr>
          <a:lstStyle/>
          <a:p>
            <a:pPr algn="l">
              <a:spcAft>
                <a:spcPts val="400"/>
              </a:spcAft>
            </a:pPr>
            <a:r>
              <a:rPr sz="3000" b="1">
                <a:solidFill>
                  <a:srgbClr val="FFFFFF"/>
                </a:solidFill>
                <a:latin typeface="Calibri"/>
              </a:rPr>
              <a:t>Cuatro luces en verde</a:t>
            </a:r>
          </a:p>
        </p:txBody>
      </p:sp>
      <p:sp>
        <p:nvSpPr>
          <p:cNvPr id="9" name="Rounded Rectangle 8"/>
          <p:cNvSpPr/>
          <p:nvPr/>
        </p:nvSpPr>
        <p:spPr>
          <a:xfrm>
            <a:off x="457200" y="1920240"/>
            <a:ext cx="3977639" cy="2286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5800" y="2194560"/>
            <a:ext cx="502920" cy="50292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86000"/>
            <a:ext cx="502920" cy="347472"/>
          </a:xfrm>
          <a:prstGeom prst="rect">
            <a:avLst/>
          </a:prstGeom>
          <a:noFill/>
        </p:spPr>
        <p:txBody>
          <a:bodyPr wrap="square" anchor="t">
            <a:spAutoFit/>
          </a:bodyPr>
          <a:lstStyle/>
          <a:p>
            <a:pPr algn="ctr">
              <a:spcAft>
                <a:spcPts val="400"/>
              </a:spcAft>
            </a:pPr>
            <a:r>
              <a:rPr sz="1100" b="1">
                <a:solidFill>
                  <a:srgbClr val="0B1329"/>
                </a:solidFill>
                <a:latin typeface="Calibri"/>
              </a:rPr>
              <a:t>01</a:t>
            </a:r>
          </a:p>
        </p:txBody>
      </p:sp>
      <p:sp>
        <p:nvSpPr>
          <p:cNvPr id="12" name="TextBox 11"/>
          <p:cNvSpPr txBox="1"/>
          <p:nvPr/>
        </p:nvSpPr>
        <p:spPr>
          <a:xfrm>
            <a:off x="685800" y="2880360"/>
            <a:ext cx="3566160" cy="411480"/>
          </a:xfrm>
          <a:prstGeom prst="rect">
            <a:avLst/>
          </a:prstGeom>
          <a:noFill/>
        </p:spPr>
        <p:txBody>
          <a:bodyPr wrap="square" anchor="t">
            <a:spAutoFit/>
          </a:bodyPr>
          <a:lstStyle/>
          <a:p>
            <a:pPr algn="l">
              <a:spcAft>
                <a:spcPts val="400"/>
              </a:spcAft>
            </a:pPr>
            <a:r>
              <a:rPr sz="1600" b="1">
                <a:solidFill>
                  <a:srgbClr val="FFFFFF"/>
                </a:solidFill>
                <a:latin typeface="Calibri"/>
              </a:rPr>
              <a:t>Cédula verificada</a:t>
            </a:r>
          </a:p>
        </p:txBody>
      </p:sp>
      <p:sp>
        <p:nvSpPr>
          <p:cNvPr id="13" name="TextBox 12"/>
          <p:cNvSpPr txBox="1"/>
          <p:nvPr/>
        </p:nvSpPr>
        <p:spPr>
          <a:xfrm>
            <a:off x="685800" y="3337560"/>
            <a:ext cx="3566160" cy="640080"/>
          </a:xfrm>
          <a:prstGeom prst="rect">
            <a:avLst/>
          </a:prstGeom>
          <a:noFill/>
        </p:spPr>
        <p:txBody>
          <a:bodyPr wrap="square" anchor="t">
            <a:spAutoFit/>
          </a:bodyPr>
          <a:lstStyle/>
          <a:p>
            <a:pPr algn="l">
              <a:spcAft>
                <a:spcPts val="400"/>
              </a:spcAft>
            </a:pPr>
            <a:r>
              <a:rPr sz="1300" b="0">
                <a:solidFill>
                  <a:srgbClr val="CBD5E1"/>
                </a:solidFill>
                <a:latin typeface="Calibri"/>
              </a:rPr>
              <a:t>Validada contra el Registro Nacional de Profesionistas de la SEP.</a:t>
            </a:r>
          </a:p>
        </p:txBody>
      </p:sp>
      <p:sp>
        <p:nvSpPr>
          <p:cNvPr id="14" name="Rounded Rectangle 13"/>
          <p:cNvSpPr/>
          <p:nvPr/>
        </p:nvSpPr>
        <p:spPr>
          <a:xfrm>
            <a:off x="4617720" y="1920240"/>
            <a:ext cx="3977639" cy="2286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46320" y="2194560"/>
            <a:ext cx="502920" cy="50292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2286000"/>
            <a:ext cx="502920" cy="347472"/>
          </a:xfrm>
          <a:prstGeom prst="rect">
            <a:avLst/>
          </a:prstGeom>
          <a:noFill/>
        </p:spPr>
        <p:txBody>
          <a:bodyPr wrap="square" anchor="t">
            <a:spAutoFit/>
          </a:bodyPr>
          <a:lstStyle/>
          <a:p>
            <a:pPr algn="ctr">
              <a:spcAft>
                <a:spcPts val="400"/>
              </a:spcAft>
            </a:pPr>
            <a:r>
              <a:rPr sz="1100" b="1">
                <a:solidFill>
                  <a:srgbClr val="0B1329"/>
                </a:solidFill>
                <a:latin typeface="Calibri"/>
              </a:rPr>
              <a:t>02</a:t>
            </a:r>
          </a:p>
        </p:txBody>
      </p:sp>
      <p:sp>
        <p:nvSpPr>
          <p:cNvPr id="17" name="TextBox 16"/>
          <p:cNvSpPr txBox="1"/>
          <p:nvPr/>
        </p:nvSpPr>
        <p:spPr>
          <a:xfrm>
            <a:off x="4846320" y="2880360"/>
            <a:ext cx="3566160" cy="411480"/>
          </a:xfrm>
          <a:prstGeom prst="rect">
            <a:avLst/>
          </a:prstGeom>
          <a:noFill/>
        </p:spPr>
        <p:txBody>
          <a:bodyPr wrap="square" anchor="t">
            <a:spAutoFit/>
          </a:bodyPr>
          <a:lstStyle/>
          <a:p>
            <a:pPr algn="l">
              <a:spcAft>
                <a:spcPts val="400"/>
              </a:spcAft>
            </a:pPr>
            <a:r>
              <a:rPr sz="1600" b="1">
                <a:solidFill>
                  <a:srgbClr val="FFFFFF"/>
                </a:solidFill>
                <a:latin typeface="Calibri"/>
              </a:rPr>
              <a:t>Avance curricular</a:t>
            </a:r>
          </a:p>
        </p:txBody>
      </p:sp>
      <p:sp>
        <p:nvSpPr>
          <p:cNvPr id="18" name="TextBox 17"/>
          <p:cNvSpPr txBox="1"/>
          <p:nvPr/>
        </p:nvSpPr>
        <p:spPr>
          <a:xfrm>
            <a:off x="4846320" y="3337560"/>
            <a:ext cx="3566160" cy="640080"/>
          </a:xfrm>
          <a:prstGeom prst="rect">
            <a:avLst/>
          </a:prstGeom>
          <a:noFill/>
        </p:spPr>
        <p:txBody>
          <a:bodyPr wrap="square" anchor="t">
            <a:spAutoFit/>
          </a:bodyPr>
          <a:lstStyle/>
          <a:p>
            <a:pPr algn="l">
              <a:spcAft>
                <a:spcPts val="400"/>
              </a:spcAft>
            </a:pPr>
            <a:r>
              <a:rPr sz="1300" b="0">
                <a:solidFill>
                  <a:srgbClr val="CBD5E1"/>
                </a:solidFill>
                <a:latin typeface="Calibri"/>
              </a:rPr>
              <a:t>Debes completar prácticamente todo el temario.</a:t>
            </a:r>
          </a:p>
        </p:txBody>
      </p:sp>
      <p:sp>
        <p:nvSpPr>
          <p:cNvPr id="19" name="Rounded Rectangle 18"/>
          <p:cNvSpPr/>
          <p:nvPr/>
        </p:nvSpPr>
        <p:spPr>
          <a:xfrm>
            <a:off x="457200" y="4389120"/>
            <a:ext cx="3977639" cy="2286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4663440"/>
            <a:ext cx="502920" cy="50292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54880"/>
            <a:ext cx="502920" cy="347472"/>
          </a:xfrm>
          <a:prstGeom prst="rect">
            <a:avLst/>
          </a:prstGeom>
          <a:noFill/>
        </p:spPr>
        <p:txBody>
          <a:bodyPr wrap="square" anchor="t">
            <a:spAutoFit/>
          </a:bodyPr>
          <a:lstStyle/>
          <a:p>
            <a:pPr algn="ctr">
              <a:spcAft>
                <a:spcPts val="400"/>
              </a:spcAft>
            </a:pPr>
            <a:r>
              <a:rPr sz="1100" b="1">
                <a:solidFill>
                  <a:srgbClr val="0B1329"/>
                </a:solidFill>
                <a:latin typeface="Calibri"/>
              </a:rPr>
              <a:t>03</a:t>
            </a:r>
          </a:p>
        </p:txBody>
      </p:sp>
      <p:sp>
        <p:nvSpPr>
          <p:cNvPr id="22" name="TextBox 21"/>
          <p:cNvSpPr txBox="1"/>
          <p:nvPr/>
        </p:nvSpPr>
        <p:spPr>
          <a:xfrm>
            <a:off x="685800" y="5349240"/>
            <a:ext cx="3566160" cy="411480"/>
          </a:xfrm>
          <a:prstGeom prst="rect">
            <a:avLst/>
          </a:prstGeom>
          <a:noFill/>
        </p:spPr>
        <p:txBody>
          <a:bodyPr wrap="square" anchor="t">
            <a:spAutoFit/>
          </a:bodyPr>
          <a:lstStyle/>
          <a:p>
            <a:pPr algn="l">
              <a:spcAft>
                <a:spcPts val="400"/>
              </a:spcAft>
            </a:pPr>
            <a:r>
              <a:rPr sz="1600" b="1">
                <a:solidFill>
                  <a:srgbClr val="FFFFFF"/>
                </a:solidFill>
                <a:latin typeface="Calibri"/>
              </a:rPr>
              <a:t>Evaluaciones</a:t>
            </a:r>
          </a:p>
        </p:txBody>
      </p:sp>
      <p:sp>
        <p:nvSpPr>
          <p:cNvPr id="23" name="TextBox 22"/>
          <p:cNvSpPr txBox="1"/>
          <p:nvPr/>
        </p:nvSpPr>
        <p:spPr>
          <a:xfrm>
            <a:off x="685800" y="5806440"/>
            <a:ext cx="3566160" cy="640080"/>
          </a:xfrm>
          <a:prstGeom prst="rect">
            <a:avLst/>
          </a:prstGeom>
          <a:noFill/>
        </p:spPr>
        <p:txBody>
          <a:bodyPr wrap="square" anchor="t">
            <a:spAutoFit/>
          </a:bodyPr>
          <a:lstStyle/>
          <a:p>
            <a:pPr algn="l">
              <a:spcAft>
                <a:spcPts val="400"/>
              </a:spcAft>
            </a:pPr>
            <a:r>
              <a:rPr sz="1300" b="0">
                <a:solidFill>
                  <a:srgbClr val="CBD5E1"/>
                </a:solidFill>
                <a:latin typeface="Calibri"/>
              </a:rPr>
              <a:t>La mayoría de las evaluaciones disponibles, aprobadas.</a:t>
            </a:r>
          </a:p>
        </p:txBody>
      </p:sp>
      <p:sp>
        <p:nvSpPr>
          <p:cNvPr id="24" name="Rounded Rectangle 23"/>
          <p:cNvSpPr/>
          <p:nvPr/>
        </p:nvSpPr>
        <p:spPr>
          <a:xfrm>
            <a:off x="4617720" y="4389120"/>
            <a:ext cx="3977639" cy="228600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46320" y="4663440"/>
            <a:ext cx="502920" cy="50292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46320" y="4754880"/>
            <a:ext cx="502920" cy="347472"/>
          </a:xfrm>
          <a:prstGeom prst="rect">
            <a:avLst/>
          </a:prstGeom>
          <a:noFill/>
        </p:spPr>
        <p:txBody>
          <a:bodyPr wrap="square" anchor="t">
            <a:spAutoFit/>
          </a:bodyPr>
          <a:lstStyle/>
          <a:p>
            <a:pPr algn="ctr">
              <a:spcAft>
                <a:spcPts val="400"/>
              </a:spcAft>
            </a:pPr>
            <a:r>
              <a:rPr sz="1100" b="1">
                <a:solidFill>
                  <a:srgbClr val="0B1329"/>
                </a:solidFill>
                <a:latin typeface="Calibri"/>
              </a:rPr>
              <a:t>04</a:t>
            </a:r>
          </a:p>
        </p:txBody>
      </p:sp>
      <p:sp>
        <p:nvSpPr>
          <p:cNvPr id="27" name="TextBox 26"/>
          <p:cNvSpPr txBox="1"/>
          <p:nvPr/>
        </p:nvSpPr>
        <p:spPr>
          <a:xfrm>
            <a:off x="4846320" y="5349240"/>
            <a:ext cx="3566160" cy="411480"/>
          </a:xfrm>
          <a:prstGeom prst="rect">
            <a:avLst/>
          </a:prstGeom>
          <a:noFill/>
        </p:spPr>
        <p:txBody>
          <a:bodyPr wrap="square" anchor="t">
            <a:spAutoFit/>
          </a:bodyPr>
          <a:lstStyle/>
          <a:p>
            <a:pPr algn="l">
              <a:spcAft>
                <a:spcPts val="400"/>
              </a:spcAft>
            </a:pPr>
            <a:r>
              <a:rPr sz="1600" b="1">
                <a:solidFill>
                  <a:srgbClr val="FFFFFF"/>
                </a:solidFill>
                <a:latin typeface="Calibri"/>
              </a:rPr>
              <a:t>Promedio ≥ 80%</a:t>
            </a:r>
          </a:p>
        </p:txBody>
      </p:sp>
      <p:sp>
        <p:nvSpPr>
          <p:cNvPr id="28" name="TextBox 27"/>
          <p:cNvSpPr txBox="1"/>
          <p:nvPr/>
        </p:nvSpPr>
        <p:spPr>
          <a:xfrm>
            <a:off x="4846320" y="5806440"/>
            <a:ext cx="3566160" cy="640080"/>
          </a:xfrm>
          <a:prstGeom prst="rect">
            <a:avLst/>
          </a:prstGeom>
          <a:noFill/>
        </p:spPr>
        <p:txBody>
          <a:bodyPr wrap="square" anchor="t">
            <a:spAutoFit/>
          </a:bodyPr>
          <a:lstStyle/>
          <a:p>
            <a:pPr algn="l">
              <a:spcAft>
                <a:spcPts val="400"/>
              </a:spcAft>
            </a:pPr>
            <a:r>
              <a:rPr sz="1300" b="0">
                <a:solidFill>
                  <a:srgbClr val="CBD5E1"/>
                </a:solidFill>
                <a:latin typeface="Calibri"/>
              </a:rPr>
              <a:t>El 70 aprueba el tema. El 80 es el listón de la constancia.</a:t>
            </a:r>
          </a:p>
        </p:txBody>
      </p:sp>
      <p:sp>
        <p:nvSpPr>
          <p:cNvPr id="29" name="Rounded Rectangle 28"/>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0080" y="8732520"/>
            <a:ext cx="6013524"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32" name="TextBox 31"/>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13  /  17</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DOCUMENTO VERIFICABLE</a:t>
            </a:r>
          </a:p>
        </p:txBody>
      </p:sp>
      <p:sp>
        <p:nvSpPr>
          <p:cNvPr id="8" name="TextBox 7"/>
          <p:cNvSpPr txBox="1"/>
          <p:nvPr/>
        </p:nvSpPr>
        <p:spPr>
          <a:xfrm>
            <a:off x="502920" y="1207008"/>
            <a:ext cx="8138160" cy="822960"/>
          </a:xfrm>
          <a:prstGeom prst="rect">
            <a:avLst/>
          </a:prstGeom>
          <a:noFill/>
        </p:spPr>
        <p:txBody>
          <a:bodyPr wrap="square" anchor="t">
            <a:spAutoFit/>
          </a:bodyPr>
          <a:lstStyle/>
          <a:p>
            <a:pPr algn="l">
              <a:spcAft>
                <a:spcPts val="400"/>
              </a:spcAft>
            </a:pPr>
            <a:r>
              <a:rPr sz="2800" b="1">
                <a:solidFill>
                  <a:srgbClr val="FFFFFF"/>
                </a:solidFill>
                <a:latin typeface="Calibri"/>
              </a:rPr>
              <a:t>No es un PDF
que se pueda inventar</a:t>
            </a:r>
          </a:p>
        </p:txBody>
      </p:sp>
      <p:sp>
        <p:nvSpPr>
          <p:cNvPr id="9" name="Rounded Rectangle 8"/>
          <p:cNvSpPr/>
          <p:nvPr/>
        </p:nvSpPr>
        <p:spPr>
          <a:xfrm>
            <a:off x="1965960" y="2194560"/>
            <a:ext cx="5212080" cy="4572000"/>
          </a:xfrm>
          <a:prstGeom prst="roundRect">
            <a:avLst>
              <a:gd name="adj" fmla="val 8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65960" y="2194560"/>
            <a:ext cx="5212080" cy="347472"/>
          </a:xfrm>
          <a:prstGeom prst="rect">
            <a:avLst/>
          </a:prstGeom>
          <a:solidFill>
            <a:srgbClr val="0D162C"/>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75688" y="2304288"/>
            <a:ext cx="128016" cy="12801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240280" y="2304288"/>
            <a:ext cx="128016" cy="12801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404872" y="2304288"/>
            <a:ext cx="128016" cy="12801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24328" y="2249424"/>
            <a:ext cx="4389120" cy="256032"/>
          </a:xfrm>
          <a:prstGeom prst="rect">
            <a:avLst/>
          </a:prstGeom>
          <a:noFill/>
        </p:spPr>
        <p:txBody>
          <a:bodyPr wrap="square" anchor="t">
            <a:spAutoFit/>
          </a:bodyPr>
          <a:lstStyle/>
          <a:p>
            <a:pPr algn="l">
              <a:spcAft>
                <a:spcPts val="400"/>
              </a:spcAft>
            </a:pPr>
            <a:r>
              <a:rPr sz="900" b="0">
                <a:solidFill>
                  <a:srgbClr val="94A3B8"/>
                </a:solidFill>
                <a:latin typeface="Calibri"/>
              </a:rPr>
              <a:t>electodx.app/verificar/EDX-2026-A9F3C1</a:t>
            </a:r>
          </a:p>
        </p:txBody>
      </p:sp>
      <p:pic>
        <p:nvPicPr>
          <p:cNvPr id="15" name="Picture 14" descr="icon-512x512.png"/>
          <p:cNvPicPr>
            <a:picLocks noChangeAspect="1"/>
          </p:cNvPicPr>
          <p:nvPr/>
        </p:nvPicPr>
        <p:blipFill>
          <a:blip r:embed="rId2"/>
          <a:stretch>
            <a:fillRect/>
          </a:stretch>
        </p:blipFill>
        <p:spPr>
          <a:xfrm>
            <a:off x="3977639" y="2843784"/>
            <a:ext cx="1188720" cy="1188720"/>
          </a:xfrm>
          <a:prstGeom prst="rect">
            <a:avLst/>
          </a:prstGeom>
        </p:spPr>
      </p:pic>
      <p:sp>
        <p:nvSpPr>
          <p:cNvPr id="16" name="Oval 15"/>
          <p:cNvSpPr/>
          <p:nvPr/>
        </p:nvSpPr>
        <p:spPr>
          <a:xfrm>
            <a:off x="4160520" y="4169663"/>
            <a:ext cx="822960" cy="822960"/>
          </a:xfrm>
          <a:prstGeom prst="ellipse">
            <a:avLst/>
          </a:prstGeom>
          <a:solidFill>
            <a:srgbClr val="0C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5084064"/>
            <a:ext cx="4754880" cy="411480"/>
          </a:xfrm>
          <a:prstGeom prst="rect">
            <a:avLst/>
          </a:prstGeom>
          <a:noFill/>
        </p:spPr>
        <p:txBody>
          <a:bodyPr wrap="square" anchor="t">
            <a:spAutoFit/>
          </a:bodyPr>
          <a:lstStyle/>
          <a:p>
            <a:pPr algn="ctr">
              <a:spcAft>
                <a:spcPts val="400"/>
              </a:spcAft>
            </a:pPr>
            <a:r>
              <a:rPr sz="2000" b="1">
                <a:solidFill>
                  <a:srgbClr val="34D399"/>
                </a:solidFill>
                <a:latin typeface="Calibri"/>
              </a:rPr>
              <a:t>Constancia vigente</a:t>
            </a:r>
          </a:p>
        </p:txBody>
      </p:sp>
      <p:sp>
        <p:nvSpPr>
          <p:cNvPr id="18" name="TextBox 17"/>
          <p:cNvSpPr txBox="1"/>
          <p:nvPr/>
        </p:nvSpPr>
        <p:spPr>
          <a:xfrm>
            <a:off x="2194560" y="5541264"/>
            <a:ext cx="4754880" cy="320040"/>
          </a:xfrm>
          <a:prstGeom prst="rect">
            <a:avLst/>
          </a:prstGeom>
          <a:noFill/>
        </p:spPr>
        <p:txBody>
          <a:bodyPr wrap="square" anchor="t">
            <a:spAutoFit/>
          </a:bodyPr>
          <a:lstStyle/>
          <a:p>
            <a:pPr algn="ctr">
              <a:spcAft>
                <a:spcPts val="400"/>
              </a:spcAft>
            </a:pPr>
            <a:r>
              <a:rPr sz="1300" b="0">
                <a:solidFill>
                  <a:srgbClr val="CBD5E1"/>
                </a:solidFill>
                <a:latin typeface="Calibri"/>
              </a:rPr>
              <a:t>Folio EDX-AÑO-código  ·  QR en el PDF</a:t>
            </a:r>
          </a:p>
        </p:txBody>
      </p:sp>
      <p:sp>
        <p:nvSpPr>
          <p:cNvPr id="19" name="TextBox 18"/>
          <p:cNvSpPr txBox="1"/>
          <p:nvPr/>
        </p:nvSpPr>
        <p:spPr>
          <a:xfrm>
            <a:off x="640080" y="7040880"/>
            <a:ext cx="7863840" cy="1097280"/>
          </a:xfrm>
          <a:prstGeom prst="rect">
            <a:avLst/>
          </a:prstGeom>
          <a:noFill/>
        </p:spPr>
        <p:txBody>
          <a:bodyPr wrap="square" anchor="t">
            <a:spAutoFit/>
          </a:bodyPr>
          <a:lstStyle/>
          <a:p>
            <a:pPr algn="ctr">
              <a:spcAft>
                <a:spcPts val="400"/>
              </a:spcAft>
            </a:pPr>
            <a:r>
              <a:rPr sz="1500" b="0">
                <a:solidFill>
                  <a:srgbClr val="CBD5E1"/>
                </a:solidFill>
                <a:latin typeface="Calibri"/>
              </a:rPr>
              <a:t>Se emite una sola vez. Si la pides de nuevo, es el mismo folio.</a:t>
            </a:r>
          </a:p>
          <a:p>
            <a:pPr algn="ctr">
              <a:spcAft>
                <a:spcPts val="400"/>
              </a:spcAft>
            </a:pPr>
            <a:r>
              <a:rPr sz="1500" b="0">
                <a:solidFill>
                  <a:srgbClr val="CBD5E1"/>
                </a:solidFill>
                <a:latin typeface="Calibri"/>
              </a:rPr>
              <a:t>Cualquier hospital puede confirmarla en segundos con el folio o el QR.</a:t>
            </a:r>
          </a:p>
        </p:txBody>
      </p:sp>
      <p:sp>
        <p:nvSpPr>
          <p:cNvPr id="20" name="Rounded Rectangle 19"/>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8732520"/>
            <a:ext cx="6476103"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23" name="TextBox 22"/>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14  /  17</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DETALLES QUE IMPORTAN</a:t>
            </a:r>
          </a:p>
        </p:txBody>
      </p:sp>
      <p:sp>
        <p:nvSpPr>
          <p:cNvPr id="8" name="TextBox 7"/>
          <p:cNvSpPr txBox="1"/>
          <p:nvPr/>
        </p:nvSpPr>
        <p:spPr>
          <a:xfrm>
            <a:off x="502920" y="1207008"/>
            <a:ext cx="8138160" cy="502920"/>
          </a:xfrm>
          <a:prstGeom prst="rect">
            <a:avLst/>
          </a:prstGeom>
          <a:noFill/>
        </p:spPr>
        <p:txBody>
          <a:bodyPr wrap="square" anchor="t">
            <a:spAutoFit/>
          </a:bodyPr>
          <a:lstStyle/>
          <a:p>
            <a:pPr algn="l">
              <a:spcAft>
                <a:spcPts val="400"/>
              </a:spcAft>
            </a:pPr>
            <a:r>
              <a:rPr sz="2800" b="1">
                <a:solidFill>
                  <a:srgbClr val="FFFFFF"/>
                </a:solidFill>
                <a:latin typeface="Calibri"/>
              </a:rPr>
              <a:t>Cinco hábitos de hospital</a:t>
            </a:r>
          </a:p>
        </p:txBody>
      </p:sp>
      <p:sp>
        <p:nvSpPr>
          <p:cNvPr id="9" name="Rounded Rectangle 8"/>
          <p:cNvSpPr/>
          <p:nvPr/>
        </p:nvSpPr>
        <p:spPr>
          <a:xfrm>
            <a:off x="457200" y="1874519"/>
            <a:ext cx="8229600" cy="111556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5800" y="2148839"/>
            <a:ext cx="548640" cy="5486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58568"/>
            <a:ext cx="548640" cy="347472"/>
          </a:xfrm>
          <a:prstGeom prst="rect">
            <a:avLst/>
          </a:prstGeom>
          <a:noFill/>
        </p:spPr>
        <p:txBody>
          <a:bodyPr wrap="square" anchor="t">
            <a:spAutoFit/>
          </a:bodyPr>
          <a:lstStyle/>
          <a:p>
            <a:pPr algn="ctr">
              <a:spcAft>
                <a:spcPts val="400"/>
              </a:spcAft>
            </a:pPr>
            <a:r>
              <a:rPr sz="1200" b="1">
                <a:solidFill>
                  <a:srgbClr val="FFFFFF"/>
                </a:solidFill>
                <a:latin typeface="Calibri"/>
              </a:rPr>
              <a:t>01</a:t>
            </a:r>
          </a:p>
        </p:txBody>
      </p:sp>
      <p:sp>
        <p:nvSpPr>
          <p:cNvPr id="12" name="TextBox 11"/>
          <p:cNvSpPr txBox="1"/>
          <p:nvPr/>
        </p:nvSpPr>
        <p:spPr>
          <a:xfrm>
            <a:off x="1463040" y="2039112"/>
            <a:ext cx="6949440" cy="320040"/>
          </a:xfrm>
          <a:prstGeom prst="rect">
            <a:avLst/>
          </a:prstGeom>
          <a:noFill/>
        </p:spPr>
        <p:txBody>
          <a:bodyPr wrap="square" anchor="t">
            <a:spAutoFit/>
          </a:bodyPr>
          <a:lstStyle/>
          <a:p>
            <a:pPr algn="l">
              <a:spcAft>
                <a:spcPts val="400"/>
              </a:spcAft>
            </a:pPr>
            <a:r>
              <a:rPr sz="1600" b="1">
                <a:solidFill>
                  <a:srgbClr val="FFFFFF"/>
                </a:solidFill>
                <a:latin typeface="Calibri"/>
              </a:rPr>
              <a:t>Instálala como app</a:t>
            </a:r>
          </a:p>
        </p:txBody>
      </p:sp>
      <p:sp>
        <p:nvSpPr>
          <p:cNvPr id="13" name="TextBox 12"/>
          <p:cNvSpPr txBox="1"/>
          <p:nvPr/>
        </p:nvSpPr>
        <p:spPr>
          <a:xfrm>
            <a:off x="1463040" y="2404872"/>
            <a:ext cx="6949440" cy="411480"/>
          </a:xfrm>
          <a:prstGeom prst="rect">
            <a:avLst/>
          </a:prstGeom>
          <a:noFill/>
        </p:spPr>
        <p:txBody>
          <a:bodyPr wrap="square" anchor="t">
            <a:spAutoFit/>
          </a:bodyPr>
          <a:lstStyle/>
          <a:p>
            <a:pPr algn="l">
              <a:spcAft>
                <a:spcPts val="400"/>
              </a:spcAft>
            </a:pPr>
            <a:r>
              <a:rPr sz="1300" b="0">
                <a:solidFill>
                  <a:srgbClr val="CBD5E1"/>
                </a:solidFill>
                <a:latin typeface="Calibri"/>
              </a:rPr>
              <a:t>Agrégala a la pantalla de inicio. Se abre a pantalla completa, como app nativa.</a:t>
            </a:r>
          </a:p>
        </p:txBody>
      </p:sp>
      <p:sp>
        <p:nvSpPr>
          <p:cNvPr id="14" name="Rounded Rectangle 13"/>
          <p:cNvSpPr/>
          <p:nvPr/>
        </p:nvSpPr>
        <p:spPr>
          <a:xfrm>
            <a:off x="457200" y="3108960"/>
            <a:ext cx="8229600" cy="111556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85800" y="3383279"/>
            <a:ext cx="548640" cy="5486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93008"/>
            <a:ext cx="548640" cy="347472"/>
          </a:xfrm>
          <a:prstGeom prst="rect">
            <a:avLst/>
          </a:prstGeom>
          <a:noFill/>
        </p:spPr>
        <p:txBody>
          <a:bodyPr wrap="square" anchor="t">
            <a:spAutoFit/>
          </a:bodyPr>
          <a:lstStyle/>
          <a:p>
            <a:pPr algn="ctr">
              <a:spcAft>
                <a:spcPts val="400"/>
              </a:spcAft>
            </a:pPr>
            <a:r>
              <a:rPr sz="1200" b="1">
                <a:solidFill>
                  <a:srgbClr val="FFFFFF"/>
                </a:solidFill>
                <a:latin typeface="Calibri"/>
              </a:rPr>
              <a:t>02</a:t>
            </a:r>
          </a:p>
        </p:txBody>
      </p:sp>
      <p:sp>
        <p:nvSpPr>
          <p:cNvPr id="17" name="TextBox 16"/>
          <p:cNvSpPr txBox="1"/>
          <p:nvPr/>
        </p:nvSpPr>
        <p:spPr>
          <a:xfrm>
            <a:off x="1463040" y="3273552"/>
            <a:ext cx="6949440" cy="320040"/>
          </a:xfrm>
          <a:prstGeom prst="rect">
            <a:avLst/>
          </a:prstGeom>
          <a:noFill/>
        </p:spPr>
        <p:txBody>
          <a:bodyPr wrap="square" anchor="t">
            <a:spAutoFit/>
          </a:bodyPr>
          <a:lstStyle/>
          <a:p>
            <a:pPr algn="l">
              <a:spcAft>
                <a:spcPts val="400"/>
              </a:spcAft>
            </a:pPr>
            <a:r>
              <a:rPr sz="1600" b="1">
                <a:solidFill>
                  <a:srgbClr val="FFFFFF"/>
                </a:solidFill>
                <a:latin typeface="Calibri"/>
              </a:rPr>
              <a:t>Activa notificaciones</a:t>
            </a:r>
          </a:p>
        </p:txBody>
      </p:sp>
      <p:sp>
        <p:nvSpPr>
          <p:cNvPr id="18" name="TextBox 17"/>
          <p:cNvSpPr txBox="1"/>
          <p:nvPr/>
        </p:nvSpPr>
        <p:spPr>
          <a:xfrm>
            <a:off x="1463040" y="3639312"/>
            <a:ext cx="6949440" cy="411480"/>
          </a:xfrm>
          <a:prstGeom prst="rect">
            <a:avLst/>
          </a:prstGeom>
          <a:noFill/>
        </p:spPr>
        <p:txBody>
          <a:bodyPr wrap="square" anchor="t">
            <a:spAutoFit/>
          </a:bodyPr>
          <a:lstStyle/>
          <a:p>
            <a:pPr algn="l">
              <a:spcAft>
                <a:spcPts val="400"/>
              </a:spcAft>
            </a:pPr>
            <a:r>
              <a:rPr sz="1300" b="0">
                <a:solidFill>
                  <a:srgbClr val="CBD5E1"/>
                </a:solidFill>
                <a:latin typeface="Calibri"/>
              </a:rPr>
              <a:t>Así te enteras cuando asignen un examen, un caso o una calificación.</a:t>
            </a:r>
          </a:p>
        </p:txBody>
      </p:sp>
      <p:sp>
        <p:nvSpPr>
          <p:cNvPr id="19" name="Rounded Rectangle 18"/>
          <p:cNvSpPr/>
          <p:nvPr/>
        </p:nvSpPr>
        <p:spPr>
          <a:xfrm>
            <a:off x="457200" y="4343400"/>
            <a:ext cx="8229600" cy="111556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4617720"/>
            <a:ext cx="548640" cy="5486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27448"/>
            <a:ext cx="548640" cy="347472"/>
          </a:xfrm>
          <a:prstGeom prst="rect">
            <a:avLst/>
          </a:prstGeom>
          <a:noFill/>
        </p:spPr>
        <p:txBody>
          <a:bodyPr wrap="square" anchor="t">
            <a:spAutoFit/>
          </a:bodyPr>
          <a:lstStyle/>
          <a:p>
            <a:pPr algn="ctr">
              <a:spcAft>
                <a:spcPts val="400"/>
              </a:spcAft>
            </a:pPr>
            <a:r>
              <a:rPr sz="1200" b="1">
                <a:solidFill>
                  <a:srgbClr val="FFFFFF"/>
                </a:solidFill>
                <a:latin typeface="Calibri"/>
              </a:rPr>
              <a:t>03</a:t>
            </a:r>
          </a:p>
        </p:txBody>
      </p:sp>
      <p:sp>
        <p:nvSpPr>
          <p:cNvPr id="22" name="TextBox 21"/>
          <p:cNvSpPr txBox="1"/>
          <p:nvPr/>
        </p:nvSpPr>
        <p:spPr>
          <a:xfrm>
            <a:off x="1463040" y="4507992"/>
            <a:ext cx="6949440" cy="320040"/>
          </a:xfrm>
          <a:prstGeom prst="rect">
            <a:avLst/>
          </a:prstGeom>
          <a:noFill/>
        </p:spPr>
        <p:txBody>
          <a:bodyPr wrap="square" anchor="t">
            <a:spAutoFit/>
          </a:bodyPr>
          <a:lstStyle/>
          <a:p>
            <a:pPr algn="l">
              <a:spcAft>
                <a:spcPts val="400"/>
              </a:spcAft>
            </a:pPr>
            <a:r>
              <a:rPr sz="1600" b="1">
                <a:solidFill>
                  <a:srgbClr val="FFFFFF"/>
                </a:solidFill>
                <a:latin typeface="Calibri"/>
              </a:rPr>
              <a:t>Descarga módulos</a:t>
            </a:r>
          </a:p>
        </p:txBody>
      </p:sp>
      <p:sp>
        <p:nvSpPr>
          <p:cNvPr id="23" name="TextBox 22"/>
          <p:cNvSpPr txBox="1"/>
          <p:nvPr/>
        </p:nvSpPr>
        <p:spPr>
          <a:xfrm>
            <a:off x="1463040" y="4873752"/>
            <a:ext cx="6949440" cy="411480"/>
          </a:xfrm>
          <a:prstGeom prst="rect">
            <a:avLst/>
          </a:prstGeom>
          <a:noFill/>
        </p:spPr>
        <p:txBody>
          <a:bodyPr wrap="square" anchor="t">
            <a:spAutoFit/>
          </a:bodyPr>
          <a:lstStyle/>
          <a:p>
            <a:pPr algn="l">
              <a:spcAft>
                <a:spcPts val="400"/>
              </a:spcAft>
            </a:pPr>
            <a:r>
              <a:rPr sz="1300" b="0">
                <a:solidFill>
                  <a:srgbClr val="CBD5E1"/>
                </a:solidFill>
                <a:latin typeface="Calibri"/>
              </a:rPr>
              <a:t>Puedes consultarlos sin internet si el servicio tiene mala señal.</a:t>
            </a:r>
          </a:p>
        </p:txBody>
      </p:sp>
      <p:sp>
        <p:nvSpPr>
          <p:cNvPr id="24" name="Rounded Rectangle 23"/>
          <p:cNvSpPr/>
          <p:nvPr/>
        </p:nvSpPr>
        <p:spPr>
          <a:xfrm>
            <a:off x="457200" y="5577840"/>
            <a:ext cx="8229600" cy="111556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5800" y="5852160"/>
            <a:ext cx="548640" cy="5486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961888"/>
            <a:ext cx="548640" cy="347472"/>
          </a:xfrm>
          <a:prstGeom prst="rect">
            <a:avLst/>
          </a:prstGeom>
          <a:noFill/>
        </p:spPr>
        <p:txBody>
          <a:bodyPr wrap="square" anchor="t">
            <a:spAutoFit/>
          </a:bodyPr>
          <a:lstStyle/>
          <a:p>
            <a:pPr algn="ctr">
              <a:spcAft>
                <a:spcPts val="400"/>
              </a:spcAft>
            </a:pPr>
            <a:r>
              <a:rPr sz="1200" b="1">
                <a:solidFill>
                  <a:srgbClr val="FFFFFF"/>
                </a:solidFill>
                <a:latin typeface="Calibri"/>
              </a:rPr>
              <a:t>04</a:t>
            </a:r>
          </a:p>
        </p:txBody>
      </p:sp>
      <p:sp>
        <p:nvSpPr>
          <p:cNvPr id="27" name="TextBox 26"/>
          <p:cNvSpPr txBox="1"/>
          <p:nvPr/>
        </p:nvSpPr>
        <p:spPr>
          <a:xfrm>
            <a:off x="1463040" y="5742432"/>
            <a:ext cx="6949440" cy="320040"/>
          </a:xfrm>
          <a:prstGeom prst="rect">
            <a:avLst/>
          </a:prstGeom>
          <a:noFill/>
        </p:spPr>
        <p:txBody>
          <a:bodyPr wrap="square" anchor="t">
            <a:spAutoFit/>
          </a:bodyPr>
          <a:lstStyle/>
          <a:p>
            <a:pPr algn="l">
              <a:spcAft>
                <a:spcPts val="400"/>
              </a:spcAft>
            </a:pPr>
            <a:r>
              <a:rPr sz="1600" b="1">
                <a:solidFill>
                  <a:srgbClr val="FFFFFF"/>
                </a:solidFill>
                <a:latin typeface="Calibri"/>
              </a:rPr>
              <a:t>Tu progreso es de la cuenta</a:t>
            </a:r>
          </a:p>
        </p:txBody>
      </p:sp>
      <p:sp>
        <p:nvSpPr>
          <p:cNvPr id="28" name="TextBox 27"/>
          <p:cNvSpPr txBox="1"/>
          <p:nvPr/>
        </p:nvSpPr>
        <p:spPr>
          <a:xfrm>
            <a:off x="1463040" y="6108192"/>
            <a:ext cx="6949440" cy="411480"/>
          </a:xfrm>
          <a:prstGeom prst="rect">
            <a:avLst/>
          </a:prstGeom>
          <a:noFill/>
        </p:spPr>
        <p:txBody>
          <a:bodyPr wrap="square" anchor="t">
            <a:spAutoFit/>
          </a:bodyPr>
          <a:lstStyle/>
          <a:p>
            <a:pPr algn="l">
              <a:spcAft>
                <a:spcPts val="400"/>
              </a:spcAft>
            </a:pPr>
            <a:r>
              <a:rPr sz="1300" b="0">
                <a:solidFill>
                  <a:srgbClr val="CBD5E1"/>
                </a:solidFill>
                <a:latin typeface="Calibri"/>
              </a:rPr>
              <a:t>Empiezas en la computadora del servicio y sigues en el teléfono.</a:t>
            </a:r>
          </a:p>
        </p:txBody>
      </p:sp>
      <p:sp>
        <p:nvSpPr>
          <p:cNvPr id="29" name="Rounded Rectangle 28"/>
          <p:cNvSpPr/>
          <p:nvPr/>
        </p:nvSpPr>
        <p:spPr>
          <a:xfrm>
            <a:off x="457200" y="6812280"/>
            <a:ext cx="8229600" cy="1115568"/>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85800" y="7086600"/>
            <a:ext cx="548640" cy="5486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7196328"/>
            <a:ext cx="548640" cy="347472"/>
          </a:xfrm>
          <a:prstGeom prst="rect">
            <a:avLst/>
          </a:prstGeom>
          <a:noFill/>
        </p:spPr>
        <p:txBody>
          <a:bodyPr wrap="square" anchor="t">
            <a:spAutoFit/>
          </a:bodyPr>
          <a:lstStyle/>
          <a:p>
            <a:pPr algn="ctr">
              <a:spcAft>
                <a:spcPts val="400"/>
              </a:spcAft>
            </a:pPr>
            <a:r>
              <a:rPr sz="1200" b="1">
                <a:solidFill>
                  <a:srgbClr val="FFFFFF"/>
                </a:solidFill>
                <a:latin typeface="Calibri"/>
              </a:rPr>
              <a:t>05</a:t>
            </a:r>
          </a:p>
        </p:txBody>
      </p:sp>
      <p:sp>
        <p:nvSpPr>
          <p:cNvPr id="32" name="TextBox 31"/>
          <p:cNvSpPr txBox="1"/>
          <p:nvPr/>
        </p:nvSpPr>
        <p:spPr>
          <a:xfrm>
            <a:off x="1463040" y="6976872"/>
            <a:ext cx="6949440" cy="320040"/>
          </a:xfrm>
          <a:prstGeom prst="rect">
            <a:avLst/>
          </a:prstGeom>
          <a:noFill/>
        </p:spPr>
        <p:txBody>
          <a:bodyPr wrap="square" anchor="t">
            <a:spAutoFit/>
          </a:bodyPr>
          <a:lstStyle/>
          <a:p>
            <a:pPr algn="l">
              <a:spcAft>
                <a:spcPts val="400"/>
              </a:spcAft>
            </a:pPr>
            <a:r>
              <a:rPr sz="1600" b="1">
                <a:solidFill>
                  <a:srgbClr val="FFFFFF"/>
                </a:solidFill>
                <a:latin typeface="Calibri"/>
              </a:rPr>
              <a:t>La asistencia cuenta</a:t>
            </a:r>
          </a:p>
        </p:txBody>
      </p:sp>
      <p:sp>
        <p:nvSpPr>
          <p:cNvPr id="33" name="TextBox 32"/>
          <p:cNvSpPr txBox="1"/>
          <p:nvPr/>
        </p:nvSpPr>
        <p:spPr>
          <a:xfrm>
            <a:off x="1463040" y="7342631"/>
            <a:ext cx="6949440" cy="411480"/>
          </a:xfrm>
          <a:prstGeom prst="rect">
            <a:avLst/>
          </a:prstGeom>
          <a:noFill/>
        </p:spPr>
        <p:txBody>
          <a:bodyPr wrap="square" anchor="t">
            <a:spAutoFit/>
          </a:bodyPr>
          <a:lstStyle/>
          <a:p>
            <a:pPr algn="l">
              <a:spcAft>
                <a:spcPts val="400"/>
              </a:spcAft>
            </a:pPr>
            <a:r>
              <a:rPr sz="1300" b="0">
                <a:solidFill>
                  <a:srgbClr val="CBD5E1"/>
                </a:solidFill>
                <a:latin typeface="Calibri"/>
              </a:rPr>
              <a:t>No entra en la constancia. Sí forma parte del kardex: clases y talleres en vivo.</a:t>
            </a:r>
          </a:p>
        </p:txBody>
      </p:sp>
      <p:sp>
        <p:nvSpPr>
          <p:cNvPr id="34" name="Rounded Rectangle 33"/>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080" y="8732520"/>
            <a:ext cx="6938682"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37" name="TextBox 36"/>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15  /  17</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502920" y="347472"/>
            <a:ext cx="475488" cy="475488"/>
          </a:xfrm>
          <a:prstGeom prst="rect">
            <a:avLst/>
          </a:prstGeom>
        </p:spPr>
      </p:pic>
      <p:sp>
        <p:nvSpPr>
          <p:cNvPr id="6" name="TextBox 5"/>
          <p:cNvSpPr txBox="1"/>
          <p:nvPr/>
        </p:nvSpPr>
        <p:spPr>
          <a:xfrm>
            <a:off x="1078992" y="384048"/>
            <a:ext cx="5852160" cy="640080"/>
          </a:xfrm>
          <a:prstGeom prst="rect">
            <a:avLst/>
          </a:prstGeom>
          <a:noFill/>
        </p:spPr>
        <p:txBody>
          <a:bodyPr wrap="none">
            <a:spAutoFit/>
          </a:bodyPr>
          <a:lstStyle/>
          <a:p>
            <a:r>
              <a:rPr sz="1800" b="1">
                <a:solidFill>
                  <a:srgbClr val="FFFFFF"/>
                </a:solidFill>
                <a:latin typeface="Calibri"/>
              </a:rPr>
              <a:t>Electo</a:t>
            </a:r>
            <a:r>
              <a:rPr sz="18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502920" y="960120"/>
            <a:ext cx="8138160" cy="256032"/>
          </a:xfrm>
          <a:prstGeom prst="rect">
            <a:avLst/>
          </a:prstGeom>
          <a:noFill/>
        </p:spPr>
        <p:txBody>
          <a:bodyPr wrap="square" anchor="t">
            <a:spAutoFit/>
          </a:bodyPr>
          <a:lstStyle/>
          <a:p>
            <a:pPr algn="l">
              <a:spcAft>
                <a:spcPts val="400"/>
              </a:spcAft>
            </a:pPr>
            <a:r>
              <a:rPr sz="1100" b="1">
                <a:solidFill>
                  <a:srgbClr val="06B6D4"/>
                </a:solidFill>
                <a:latin typeface="Calibri"/>
              </a:rPr>
              <a:t>SI EMPEZARÁS HOY</a:t>
            </a:r>
          </a:p>
        </p:txBody>
      </p:sp>
      <p:sp>
        <p:nvSpPr>
          <p:cNvPr id="8" name="TextBox 7"/>
          <p:cNvSpPr txBox="1"/>
          <p:nvPr/>
        </p:nvSpPr>
        <p:spPr>
          <a:xfrm>
            <a:off x="502920" y="1207008"/>
            <a:ext cx="8138160" cy="640080"/>
          </a:xfrm>
          <a:prstGeom prst="rect">
            <a:avLst/>
          </a:prstGeom>
          <a:noFill/>
        </p:spPr>
        <p:txBody>
          <a:bodyPr wrap="square" anchor="t">
            <a:spAutoFit/>
          </a:bodyPr>
          <a:lstStyle/>
          <a:p>
            <a:pPr algn="l">
              <a:spcAft>
                <a:spcPts val="400"/>
              </a:spcAft>
            </a:pPr>
            <a:r>
              <a:rPr sz="2800" b="1">
                <a:solidFill>
                  <a:srgbClr val="FFFFFF"/>
                </a:solidFill>
                <a:latin typeface="Calibri"/>
              </a:rPr>
              <a:t>Un ciclo. El avance llega solo.</a:t>
            </a:r>
          </a:p>
        </p:txBody>
      </p:sp>
      <p:sp>
        <p:nvSpPr>
          <p:cNvPr id="9" name="Rounded Rectangle 8"/>
          <p:cNvSpPr/>
          <p:nvPr/>
        </p:nvSpPr>
        <p:spPr>
          <a:xfrm>
            <a:off x="457200" y="201168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1284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01</a:t>
            </a:r>
          </a:p>
        </p:txBody>
      </p:sp>
      <p:sp>
        <p:nvSpPr>
          <p:cNvPr id="11" name="TextBox 10"/>
          <p:cNvSpPr txBox="1"/>
          <p:nvPr/>
        </p:nvSpPr>
        <p:spPr>
          <a:xfrm>
            <a:off x="685800" y="256032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Abre Mi Portal</a:t>
            </a:r>
          </a:p>
        </p:txBody>
      </p:sp>
      <p:sp>
        <p:nvSpPr>
          <p:cNvPr id="12" name="Rounded Rectangle 11"/>
          <p:cNvSpPr/>
          <p:nvPr/>
        </p:nvSpPr>
        <p:spPr>
          <a:xfrm>
            <a:off x="4617720" y="201168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221284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02</a:t>
            </a:r>
          </a:p>
        </p:txBody>
      </p:sp>
      <p:sp>
        <p:nvSpPr>
          <p:cNvPr id="14" name="TextBox 13"/>
          <p:cNvSpPr txBox="1"/>
          <p:nvPr/>
        </p:nvSpPr>
        <p:spPr>
          <a:xfrm>
            <a:off x="4846320" y="256032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Continúa el tema</a:t>
            </a:r>
          </a:p>
        </p:txBody>
      </p:sp>
      <p:sp>
        <p:nvSpPr>
          <p:cNvPr id="15" name="Rounded Rectangle 14"/>
          <p:cNvSpPr/>
          <p:nvPr/>
        </p:nvSpPr>
        <p:spPr>
          <a:xfrm>
            <a:off x="457200" y="347472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7588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03</a:t>
            </a:r>
          </a:p>
        </p:txBody>
      </p:sp>
      <p:sp>
        <p:nvSpPr>
          <p:cNvPr id="17" name="TextBox 16"/>
          <p:cNvSpPr txBox="1"/>
          <p:nvPr/>
        </p:nvSpPr>
        <p:spPr>
          <a:xfrm>
            <a:off x="685800" y="402336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Lee perlas y puntos clave</a:t>
            </a:r>
          </a:p>
        </p:txBody>
      </p:sp>
      <p:sp>
        <p:nvSpPr>
          <p:cNvPr id="18" name="Rounded Rectangle 17"/>
          <p:cNvSpPr/>
          <p:nvPr/>
        </p:nvSpPr>
        <p:spPr>
          <a:xfrm>
            <a:off x="4617720" y="347472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67588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04</a:t>
            </a:r>
          </a:p>
        </p:txBody>
      </p:sp>
      <p:sp>
        <p:nvSpPr>
          <p:cNvPr id="20" name="TextBox 19"/>
          <p:cNvSpPr txBox="1"/>
          <p:nvPr/>
        </p:nvSpPr>
        <p:spPr>
          <a:xfrm>
            <a:off x="4846320" y="402336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Genera tus tarjetas</a:t>
            </a:r>
          </a:p>
        </p:txBody>
      </p:sp>
      <p:sp>
        <p:nvSpPr>
          <p:cNvPr id="21" name="Rounded Rectangle 20"/>
          <p:cNvSpPr/>
          <p:nvPr/>
        </p:nvSpPr>
        <p:spPr>
          <a:xfrm>
            <a:off x="457200" y="493776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13892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05</a:t>
            </a:r>
          </a:p>
        </p:txBody>
      </p:sp>
      <p:sp>
        <p:nvSpPr>
          <p:cNvPr id="23" name="TextBox 22"/>
          <p:cNvSpPr txBox="1"/>
          <p:nvPr/>
        </p:nvSpPr>
        <p:spPr>
          <a:xfrm>
            <a:off x="685800" y="548640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Resuelve la evaluación</a:t>
            </a:r>
          </a:p>
        </p:txBody>
      </p:sp>
      <p:sp>
        <p:nvSpPr>
          <p:cNvPr id="24" name="Rounded Rectangle 23"/>
          <p:cNvSpPr/>
          <p:nvPr/>
        </p:nvSpPr>
        <p:spPr>
          <a:xfrm>
            <a:off x="4617720" y="493776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0" y="513892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06</a:t>
            </a:r>
          </a:p>
        </p:txBody>
      </p:sp>
      <p:sp>
        <p:nvSpPr>
          <p:cNvPr id="26" name="TextBox 25"/>
          <p:cNvSpPr txBox="1"/>
          <p:nvPr/>
        </p:nvSpPr>
        <p:spPr>
          <a:xfrm>
            <a:off x="4846320" y="548640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Lee todas las explicaciones</a:t>
            </a:r>
          </a:p>
        </p:txBody>
      </p:sp>
      <p:sp>
        <p:nvSpPr>
          <p:cNvPr id="27" name="Rounded Rectangle 26"/>
          <p:cNvSpPr/>
          <p:nvPr/>
        </p:nvSpPr>
        <p:spPr>
          <a:xfrm>
            <a:off x="457200" y="640080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660196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07</a:t>
            </a:r>
          </a:p>
        </p:txBody>
      </p:sp>
      <p:sp>
        <p:nvSpPr>
          <p:cNvPr id="29" name="TextBox 28"/>
          <p:cNvSpPr txBox="1"/>
          <p:nvPr/>
        </p:nvSpPr>
        <p:spPr>
          <a:xfrm>
            <a:off x="685800" y="694944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Cada semana: cuaderno de errores</a:t>
            </a:r>
          </a:p>
        </p:txBody>
      </p:sp>
      <p:sp>
        <p:nvSpPr>
          <p:cNvPr id="30" name="Rounded Rectangle 29"/>
          <p:cNvSpPr/>
          <p:nvPr/>
        </p:nvSpPr>
        <p:spPr>
          <a:xfrm>
            <a:off x="4617720" y="6400800"/>
            <a:ext cx="3977639" cy="1280160"/>
          </a:xfrm>
          <a:prstGeom prst="roundRect">
            <a:avLst>
              <a:gd name="adj" fmla="val 10000"/>
            </a:avLst>
          </a:prstGeom>
          <a:solidFill>
            <a:srgbClr val="121C3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6601968"/>
            <a:ext cx="3566160" cy="274320"/>
          </a:xfrm>
          <a:prstGeom prst="rect">
            <a:avLst/>
          </a:prstGeom>
          <a:noFill/>
        </p:spPr>
        <p:txBody>
          <a:bodyPr wrap="square" anchor="t">
            <a:spAutoFit/>
          </a:bodyPr>
          <a:lstStyle/>
          <a:p>
            <a:pPr algn="l">
              <a:spcAft>
                <a:spcPts val="400"/>
              </a:spcAft>
            </a:pPr>
            <a:r>
              <a:rPr sz="1200" b="1">
                <a:solidFill>
                  <a:srgbClr val="06B6D4"/>
                </a:solidFill>
                <a:latin typeface="Calibri"/>
              </a:rPr>
              <a:t>08</a:t>
            </a:r>
          </a:p>
        </p:txBody>
      </p:sp>
      <p:sp>
        <p:nvSpPr>
          <p:cNvPr id="32" name="TextBox 31"/>
          <p:cNvSpPr txBox="1"/>
          <p:nvPr/>
        </p:nvSpPr>
        <p:spPr>
          <a:xfrm>
            <a:off x="4846320" y="6949440"/>
            <a:ext cx="3566160" cy="502920"/>
          </a:xfrm>
          <a:prstGeom prst="rect">
            <a:avLst/>
          </a:prstGeom>
          <a:noFill/>
        </p:spPr>
        <p:txBody>
          <a:bodyPr wrap="square" anchor="t">
            <a:spAutoFit/>
          </a:bodyPr>
          <a:lstStyle/>
          <a:p>
            <a:pPr algn="l">
              <a:spcAft>
                <a:spcPts val="400"/>
              </a:spcAft>
            </a:pPr>
            <a:r>
              <a:rPr sz="1600" b="1">
                <a:solidFill>
                  <a:srgbClr val="FFFFFF"/>
                </a:solidFill>
                <a:latin typeface="Calibri"/>
              </a:rPr>
              <a:t>Cada semana: tarjetas vencidas</a:t>
            </a:r>
          </a:p>
        </p:txBody>
      </p:sp>
      <p:sp>
        <p:nvSpPr>
          <p:cNvPr id="33" name="Rounded Rectangle 32"/>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 y="8732520"/>
            <a:ext cx="7401261"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36" name="TextBox 35"/>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16  /  17</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280160"/>
            <a:ext cx="3840480" cy="3840480"/>
          </a:xfrm>
          <a:prstGeom prst="ellipse">
            <a:avLst/>
          </a:prstGeom>
          <a:solidFill>
            <a:srgbClr val="142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0" y="6766560"/>
            <a:ext cx="3657600" cy="3657600"/>
          </a:xfrm>
          <a:prstGeom prst="ellipse">
            <a:avLst/>
          </a:prstGeom>
          <a:solidFill>
            <a:srgbClr val="0C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512x512.png"/>
          <p:cNvPicPr>
            <a:picLocks noChangeAspect="1"/>
          </p:cNvPicPr>
          <p:nvPr/>
        </p:nvPicPr>
        <p:blipFill>
          <a:blip r:embed="rId2"/>
          <a:stretch>
            <a:fillRect/>
          </a:stretch>
        </p:blipFill>
        <p:spPr>
          <a:xfrm>
            <a:off x="3611880" y="1554480"/>
            <a:ext cx="1920240" cy="1920240"/>
          </a:xfrm>
          <a:prstGeom prst="rect">
            <a:avLst/>
          </a:prstGeom>
        </p:spPr>
      </p:pic>
      <p:sp>
        <p:nvSpPr>
          <p:cNvPr id="6" name="TextBox 5"/>
          <p:cNvSpPr txBox="1"/>
          <p:nvPr/>
        </p:nvSpPr>
        <p:spPr>
          <a:xfrm>
            <a:off x="1554480" y="3703320"/>
            <a:ext cx="5852160" cy="640080"/>
          </a:xfrm>
          <a:prstGeom prst="rect">
            <a:avLst/>
          </a:prstGeom>
          <a:noFill/>
        </p:spPr>
        <p:txBody>
          <a:bodyPr wrap="none">
            <a:spAutoFit/>
          </a:bodyPr>
          <a:lstStyle/>
          <a:p>
            <a:r>
              <a:rPr sz="3600" b="1">
                <a:solidFill>
                  <a:srgbClr val="FFFFFF"/>
                </a:solidFill>
                <a:latin typeface="Calibri"/>
              </a:rPr>
              <a:t>Electo</a:t>
            </a:r>
            <a:r>
              <a:rPr sz="3600" b="1">
                <a:solidFill>
                  <a:srgbClr val="38BDF8"/>
                </a:solidFill>
                <a:latin typeface="Calibri"/>
              </a:rPr>
              <a:t>DX</a:t>
            </a:r>
            <a:r>
              <a:rPr sz="1100" b="1">
                <a:solidFill>
                  <a:srgbClr val="94A3B8"/>
                </a:solidFill>
                <a:latin typeface="Calibri"/>
              </a:rPr>
              <a:t>   DIPLOMADO</a:t>
            </a:r>
          </a:p>
        </p:txBody>
      </p:sp>
      <p:sp>
        <p:nvSpPr>
          <p:cNvPr id="7" name="TextBox 6"/>
          <p:cNvSpPr txBox="1"/>
          <p:nvPr/>
        </p:nvSpPr>
        <p:spPr>
          <a:xfrm>
            <a:off x="1005840" y="4526280"/>
            <a:ext cx="7132320" cy="1371600"/>
          </a:xfrm>
          <a:prstGeom prst="rect">
            <a:avLst/>
          </a:prstGeom>
          <a:noFill/>
        </p:spPr>
        <p:txBody>
          <a:bodyPr wrap="square" anchor="t">
            <a:spAutoFit/>
          </a:bodyPr>
          <a:lstStyle/>
          <a:p>
            <a:pPr algn="ctr">
              <a:spcAft>
                <a:spcPts val="400"/>
              </a:spcAft>
            </a:pPr>
            <a:r>
              <a:rPr sz="1800" b="0">
                <a:solidFill>
                  <a:srgbClr val="CBD5E1"/>
                </a:solidFill>
                <a:latin typeface="Calibri"/>
              </a:rPr>
              <a:t>El electrodiagnóstico bien hecho</a:t>
            </a:r>
          </a:p>
          <a:p>
            <a:pPr algn="ctr">
              <a:spcAft>
                <a:spcPts val="400"/>
              </a:spcAft>
            </a:pPr>
            <a:r>
              <a:rPr sz="2200" b="1">
                <a:solidFill>
                  <a:srgbClr val="FFFFFF"/>
                </a:solidFill>
                <a:latin typeface="Calibri"/>
              </a:rPr>
              <a:t>evita cirugías innecesarias.</a:t>
            </a:r>
          </a:p>
          <a:p>
            <a:pPr algn="ctr">
              <a:spcAft>
                <a:spcPts val="400"/>
              </a:spcAft>
            </a:pPr>
            <a:r>
              <a:rPr sz="1800" b="0">
                <a:solidFill>
                  <a:srgbClr val="CBD5E1"/>
                </a:solidFill>
                <a:latin typeface="Calibri"/>
              </a:rPr>
              <a:t>El mal hecho las provoca.</a:t>
            </a:r>
          </a:p>
        </p:txBody>
      </p:sp>
      <p:sp>
        <p:nvSpPr>
          <p:cNvPr id="8" name="Rounded Rectangle 7"/>
          <p:cNvSpPr/>
          <p:nvPr/>
        </p:nvSpPr>
        <p:spPr>
          <a:xfrm>
            <a:off x="2331720" y="6126480"/>
            <a:ext cx="4480560" cy="438912"/>
          </a:xfrm>
          <a:prstGeom prst="roundRect">
            <a:avLst>
              <a:gd name="adj" fmla="val 50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6163056"/>
            <a:ext cx="4480560" cy="402336"/>
          </a:xfrm>
          <a:prstGeom prst="rect">
            <a:avLst/>
          </a:prstGeom>
          <a:noFill/>
        </p:spPr>
        <p:txBody>
          <a:bodyPr wrap="square" anchor="ctr">
            <a:spAutoFit/>
          </a:bodyPr>
          <a:lstStyle/>
          <a:p>
            <a:pPr algn="ctr">
              <a:spcAft>
                <a:spcPts val="400"/>
              </a:spcAft>
            </a:pPr>
            <a:r>
              <a:rPr sz="1100" b="1">
                <a:solidFill>
                  <a:srgbClr val="FFFFFF"/>
                </a:solidFill>
                <a:latin typeface="Calibri"/>
              </a:rPr>
              <a:t>NOS VEMOS EN EL MÓDULO 01</a:t>
            </a:r>
          </a:p>
        </p:txBody>
      </p:sp>
      <p:sp>
        <p:nvSpPr>
          <p:cNvPr id="10" name="TextBox 9"/>
          <p:cNvSpPr txBox="1"/>
          <p:nvPr/>
        </p:nvSpPr>
        <p:spPr>
          <a:xfrm>
            <a:off x="1097280" y="6858000"/>
            <a:ext cx="6949440" cy="822960"/>
          </a:xfrm>
          <a:prstGeom prst="rect">
            <a:avLst/>
          </a:prstGeom>
          <a:noFill/>
        </p:spPr>
        <p:txBody>
          <a:bodyPr wrap="square" anchor="t">
            <a:spAutoFit/>
          </a:bodyPr>
          <a:lstStyle/>
          <a:p>
            <a:pPr algn="ctr">
              <a:spcAft>
                <a:spcPts val="400"/>
              </a:spcAft>
            </a:pPr>
            <a:r>
              <a:rPr sz="1400" b="0">
                <a:solidFill>
                  <a:srgbClr val="94A3B8"/>
                </a:solidFill>
                <a:latin typeface="Calibri"/>
              </a:rPr>
              <a:t>Si tienes dudas, usa Preguntas al docente</a:t>
            </a:r>
          </a:p>
          <a:p>
            <a:pPr algn="ctr">
              <a:spcAft>
                <a:spcPts val="400"/>
              </a:spcAft>
            </a:pPr>
            <a:r>
              <a:rPr sz="1400" b="0">
                <a:solidFill>
                  <a:srgbClr val="94A3B8"/>
                </a:solidFill>
                <a:latin typeface="Calibri"/>
              </a:rPr>
              <a:t>dentro de Mi Portal. Para eso estamos.</a:t>
            </a:r>
          </a:p>
        </p:txBody>
      </p:sp>
      <p:sp>
        <p:nvSpPr>
          <p:cNvPr id="11" name="Rounded Rectangle 10"/>
          <p:cNvSpPr/>
          <p:nvPr/>
        </p:nvSpPr>
        <p:spPr>
          <a:xfrm>
            <a:off x="640080" y="8732520"/>
            <a:ext cx="7863840" cy="73152"/>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8732520"/>
            <a:ext cx="7863840" cy="7315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8833104"/>
            <a:ext cx="5029200" cy="256032"/>
          </a:xfrm>
          <a:prstGeom prst="rect">
            <a:avLst/>
          </a:prstGeom>
          <a:noFill/>
        </p:spPr>
        <p:txBody>
          <a:bodyPr wrap="square" anchor="t">
            <a:spAutoFit/>
          </a:bodyPr>
          <a:lstStyle/>
          <a:p>
            <a:pPr algn="l">
              <a:spcAft>
                <a:spcPts val="400"/>
              </a:spcAft>
            </a:pPr>
            <a:r>
              <a:rPr sz="1000" b="0">
                <a:solidFill>
                  <a:srgbClr val="94A3B8"/>
                </a:solidFill>
                <a:latin typeface="Calibri"/>
              </a:rPr>
              <a:t>ElectoDX  ·  Video de introducción</a:t>
            </a:r>
          </a:p>
        </p:txBody>
      </p:sp>
      <p:sp>
        <p:nvSpPr>
          <p:cNvPr id="14" name="TextBox 13"/>
          <p:cNvSpPr txBox="1"/>
          <p:nvPr/>
        </p:nvSpPr>
        <p:spPr>
          <a:xfrm>
            <a:off x="5760720" y="8833104"/>
            <a:ext cx="2743200" cy="256032"/>
          </a:xfrm>
          <a:prstGeom prst="rect">
            <a:avLst/>
          </a:prstGeom>
          <a:noFill/>
        </p:spPr>
        <p:txBody>
          <a:bodyPr wrap="square" anchor="t">
            <a:spAutoFit/>
          </a:bodyPr>
          <a:lstStyle/>
          <a:p>
            <a:pPr algn="r">
              <a:spcAft>
                <a:spcPts val="400"/>
              </a:spcAft>
            </a:pPr>
            <a:r>
              <a:rPr sz="1000" b="1">
                <a:solidFill>
                  <a:srgbClr val="94A3B8"/>
                </a:solidFill>
                <a:latin typeface="Calibri"/>
              </a:rPr>
              <a:t>17  /  17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