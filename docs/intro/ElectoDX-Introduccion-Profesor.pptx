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Presentarse. No es un tour de botones: es el ciclo semanal. Pedir que anoten fricciones: bloquea / confunde / se puede vivir.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Mitad 1 = explicación (bloques 1–6). Mitad 2 = el profesor maneja (7). Cierre = permisos (8). No abras roles al inicio.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Regla: no es demo de todas las pantallas. Si el profesor pregunta “¿dónde subo el video de ayer?”, el sistema falló — anótalo.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 real de inicio (localhost). El profesor debe poder abrir / y /temario sin cuenta para ver “qué vende” el diplomado.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kárdex oficial (Capa A) no es “avance del temario”. Es exámenes 30 + tareas 30 + asistencia 20 + currículum 20. Mínimo 80. Honores ≥95 + cédula.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 real de /temario. Mensaje: el alumno ve lecciones, no archivos TypeScript. Nunca cambiar el id de un tema si ya hay quiz o progreso.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badge Evaluación es el QuizGate. Offline es copia del módulo, no de un tema suelto. Las evaluaciones oficiales siguen pidiendo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Desempeño = Capa A (oficial vs en curso). Constancia exige dictamen oficial + cédula verificada. Tareas y avisos se alimentan de lo que el profesor asigna.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Transición: “ahora vamos a ver las pantallas que fabrican cada uno de esos pasos”.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Ruta: /admin. El editor (profesor) ya entra aquí; el badge dice Profesor o Administrador. Pestaña Gestión Operativa solo la ve admin. Recreación fiel de la UI actual con los textos reales del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rol en código se llama editor, no profesor. El layout ya dice Profesor. Dirección = admin. No abrir /colaborador en esta sesión salvo para mostrar el salto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Repite: planeación = calendario + visibilidad + encuentro + evidencia. Si saltan al quiz editor, se pierden.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contrato de la semana. Mes / semana / agenda. Clic en día vacío: Clase en vivo, Examen, Caso EMG, Corte académico. Clic en un evento: inspector (editar, pase de lista, entregas). Rúbrica Capa A arriba: 30/30/20/20, mínimo 80.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fecha del clic ya va prellenada. No reenviar al profesor a /admin/talleres para “crear la clase”: puede hacerlo desde el calendario o desde Acciones rápidas.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Editar pesos: riel del calendario → Editar, o Alumnos → Configurar Rúbricas. El alumno ve el mismo número en /portal?tab=performance.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Después de la clase: Pase de lista (no dejarlo para el viernes). Luego pegar la grabación para quien faltó.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Modal Asignar Examen desde Inicio, calendario o Alumnos. No es el quiz curricular del final de la lección.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de la semana: STC → tema visible → caso entrapment asignado → (opcional) examen del módulo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bloque 3: planeación = calendario + visibilidad + encuentro +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de oro: nunca cambiar el id de un tema si ya hay quiz, progreso o revisión. Hay un árbol TypeScript + una capa editorial en Supabase.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de 3 minutos: ocultar un tema → vista previa alumno → volver a mostrar → lápiz de una frase → abrir /modulo y confirmar.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este camino pide 3 logins o se pierde el menú, eso es el hallazgo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/admin/ejercicios: crear, editar, duplicar, filtrar, asignar. Fricción: esta página a veces se siente “fuera” del cascarón admin. Anótalo si el profesor se pierde.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dicen “el quiz” por todo, corrige en voz alta. El kárdex oficial no se llena con el quiz curricular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Tipos: única, múltiple, V/F, imagen. Enseña solo /admin/quizzes. Hay un segundo editor en /colaborador/cuestionario: no lo uses en la inducción.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la bandeja está vacía y hay entregas, recargar. El editor ya ve Inicio; no mandarlo a Usuarios.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Desde la fila: kárdex, exámenes, tareas, asistencias. Semáforo: al corriente / en riesgo / rezagado. “Sin calificar” es honesto: no hay 85 fantasma.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 real de /auth/login. Un editor o admin aterriza en /admin, no en el portal del alumno. Si alguien entra como alumno, no verá el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Rúbrica por pantalla: ¿la acción en &lt;10 s? ¿sé si guardó? ¿puedo deshacer? ¿el menú sigue? ¿vocabulario clínico? ¿tablet del aula?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editor ya tiene Inicio, calendario y talleres. Admisiones, usuarios, acceso premium y auditoría siguen en admin. El rol se llama Editor en el sistema; el badge dice Profesor.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abras esta discusión al minuto 5. Primero el ciclo de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Imprimir o dejar en el chat del grupo docente. Capturas de / , /temario y /auth/login son del sistema en vivo. Las de /admin son recreaciones fieles de la UI (mismos menús y textos) para esta sesión; se pueden sustituir iniciando sesión y corriendo docs/intro/capture-profesor-screens.mjs.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4" name="Image 0" descr="C:\Users\JmYoc\OneDrive\Documentos\DeepLuxMed\ClasesEMG\NeuroSAFE\public\icons\icon-192x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4754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1920240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 profesor planea,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y evalúa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02920" y="3977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temario a la calificación, en el orden en que se enseña.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292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docente  ·  45–60 min de explicación + 20–30 min de recorrido en vivo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LA SESIÓN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bloques, una sola secuencia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5577840" cy="100584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3716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 el médico cursista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2377440"/>
            <a:ext cx="5577840" cy="100584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5146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25146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mental del profesor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11480" y="3520440"/>
            <a:ext cx="5577840" cy="100584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6576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36576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planea la semana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11480" y="4663440"/>
            <a:ext cx="5577840" cy="100584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8006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toca el temario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63640" y="1234440"/>
            <a:ext cx="5577840" cy="100584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3716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43800" y="13716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EMG y simulador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63640" y="2377440"/>
            <a:ext cx="5577840" cy="100584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5146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43800" y="25146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evalúa (Capa A)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63640" y="3520440"/>
            <a:ext cx="5577840" cy="100584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36576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543800" y="36576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en vivo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63640" y="4663440"/>
            <a:ext cx="5577840" cy="100584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48006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543800" y="48006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sí / qué no puede el titular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31" name="Text 28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 ESTAMOS AQUÍ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frases. Una regla.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3657600" cy="402336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sistema como lo vive el cursista.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ves el destino, no puedes diseñar la clase.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51960" y="1280160"/>
            <a:ext cx="3657600" cy="402336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508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80560" y="21945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el ciclo: planear → publicar → asignar → calificar.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38404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ancla es /admin/calendario, no cinco menús sueltos.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92440" y="1280160"/>
            <a:ext cx="3657600" cy="402336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1508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321040" y="21945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Anotar fricciones y decidir permisos del titular.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38404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/ confunde / se puede vivir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18" name="Text 15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OJO DEL ALUMNO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ElectroDx, en una frase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posgrado en electrodiagnóstico: temario clínico + simulador EMG + evaluaciones + kárdex de cohorte.</a:t>
            </a:r>
            <a:endParaRPr lang="en-US" sz="1600" dirty="0"/>
          </a:p>
        </p:txBody>
      </p:sp>
      <p:pic>
        <p:nvPicPr>
          <p:cNvPr id="5" name="Image 0" descr="C:\Users\JmYoc\OneDrive\Documentos\DeepLuxMed\ClasesEMG\NeuroSAFE\docs\intro\screenshots\01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45920"/>
            <a:ext cx="11338560" cy="4754880"/>
          </a:xfrm>
          <a:prstGeom prst="ellipse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8" name="Text 4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QUE EL PROFESOR DEBE MEMORIZAR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capas. No las mezcles.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3657600" cy="4114800"/>
          </a:xfrm>
          <a:prstGeom prst="roundRect">
            <a:avLst>
              <a:gd name="adj" fmla="val 3500"/>
            </a:avLst>
          </a:prstGeom>
          <a:solidFill>
            <a:srgbClr val="0B1329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325880"/>
            <a:ext cx="365760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A — Aprender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→ temas → subtemas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Perlas, videos, puntos clave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 20 % del kárdex (temario)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325880"/>
            <a:ext cx="3657600" cy="4114800"/>
          </a:xfrm>
          <a:prstGeom prst="roundRect">
            <a:avLst>
              <a:gd name="adj" fmla="val 3500"/>
            </a:avLst>
          </a:prstGeom>
          <a:solidFill>
            <a:srgbClr val="0B1329"/>
          </a:solidFill>
          <a:ln/>
        </p:spPr>
      </p:sp>
      <p:sp>
        <p:nvSpPr>
          <p:cNvPr id="9" name="Shape 7"/>
          <p:cNvSpPr/>
          <p:nvPr/>
        </p:nvSpPr>
        <p:spPr>
          <a:xfrm>
            <a:off x="4251960" y="1325880"/>
            <a:ext cx="3657600" cy="10972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6916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B — Practicar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80560" y="283464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casos EMG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NCS, aguja, RNS, F/H, trampas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profesor califica el dictamen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1325880"/>
            <a:ext cx="3657600" cy="4114800"/>
          </a:xfrm>
          <a:prstGeom prst="roundRect">
            <a:avLst>
              <a:gd name="adj" fmla="val 3500"/>
            </a:avLst>
          </a:prstGeom>
          <a:solidFill>
            <a:srgbClr val="0B1329"/>
          </a:solidFill>
          <a:ln/>
        </p:spPr>
      </p:sp>
      <p:sp>
        <p:nvSpPr>
          <p:cNvPr id="13" name="Shape 11"/>
          <p:cNvSpPr/>
          <p:nvPr/>
        </p:nvSpPr>
        <p:spPr>
          <a:xfrm>
            <a:off x="8092440" y="1325880"/>
            <a:ext cx="3657600" cy="1097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6916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C — Demostrar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21040" y="283464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del tema · examen asignado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/ caso · asistencia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A oficial: 30 / 30 / 20 / 20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18" name="Text 15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ALUMNO NO VE EL REPOSITORIO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módulos. Un árbol de lecciones.</a:t>
            </a:r>
            <a:endParaRPr lang="en-US" sz="2600" dirty="0"/>
          </a:p>
        </p:txBody>
      </p:sp>
      <p:pic>
        <p:nvPicPr>
          <p:cNvPr id="4" name="Image 0" descr="C:\Users\JmYoc\OneDrive\Documentos\DeepLuxMed\ClasesEMG\NeuroSAFE\docs\intro\screenshots\02-tem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6949440" cy="521208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1188720"/>
            <a:ext cx="4297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Fundamentos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Conducción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Aguja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Tardías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Evocados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Especiales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Anatomía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Patologías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Criterios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Referencia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Bibliografía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Seguridad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Síndrome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Informe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Casos complejos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Actualizaciones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8" name="Text 4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UNA HOJA  ·  /MODULO/…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ve (y se cierra) una lección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11338560" cy="1097280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+ badges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 / Pendiente · Evaluación · Offline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2468880"/>
            <a:ext cx="1133856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clínico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Texto, perlas, puntos clave, videos, figuras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3703320"/>
            <a:ext cx="11338560" cy="1097280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Candado de evaluación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251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quiz publicado, no se marca completo sin aprobar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4937760"/>
            <a:ext cx="1133856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offline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guarda el módulo; el avance se sube al volver en línea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18" name="Text 15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DEL ALUMNO  ·  /PORTAL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profesor no asigna, el alumno solo ve temario y quizzes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89720" y="137160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0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11480" y="356616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60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37560" y="356616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4160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63640" y="356616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4160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Constancia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89720" y="356616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0" y="4160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22" name="Text 19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“CIERRA” UNA SEMANA PARA EL CURSISTA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sigue existe para alimentar esto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2103120"/>
            <a:ext cx="1554480" cy="1554480"/>
          </a:xfrm>
          <a:prstGeom prst="ellipse">
            <a:avLst/>
          </a:prstGeom>
          <a:solidFill>
            <a:srgbClr val="0B1329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331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27432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tema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2697480"/>
            <a:ext cx="320040" cy="201168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2377440" y="2103120"/>
            <a:ext cx="1554480" cy="1554480"/>
          </a:xfrm>
          <a:prstGeom prst="ellipse">
            <a:avLst/>
          </a:prstGeom>
          <a:solidFill>
            <a:srgbClr val="0B1329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2331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27432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del tema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 hay)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2697480"/>
            <a:ext cx="320040" cy="201168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2103120"/>
            <a:ext cx="1554480" cy="1554480"/>
          </a:xfrm>
          <a:prstGeom prst="ellipse">
            <a:avLst/>
          </a:prstGeom>
          <a:solidFill>
            <a:srgbClr val="0B1329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2331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43400" y="27432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EMG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asignado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06440" y="2697480"/>
            <a:ext cx="320040" cy="201168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2103120"/>
            <a:ext cx="1554480" cy="1554480"/>
          </a:xfrm>
          <a:prstGeom prst="ellipse">
            <a:avLst/>
          </a:prstGeom>
          <a:solidFill>
            <a:srgbClr val="0B1329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331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7432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/ grabación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2697480"/>
            <a:ext cx="320040" cy="201168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20" name="Shape 18"/>
          <p:cNvSpPr/>
          <p:nvPr/>
        </p:nvSpPr>
        <p:spPr>
          <a:xfrm>
            <a:off x="8275320" y="2103120"/>
            <a:ext cx="1554480" cy="1554480"/>
          </a:xfrm>
          <a:prstGeom prst="ellipse">
            <a:avLst/>
          </a:prstGeom>
          <a:solidFill>
            <a:srgbClr val="0B1329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2331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75320" y="27432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de corte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38360" y="2697480"/>
            <a:ext cx="320040" cy="201168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41280" y="2103120"/>
            <a:ext cx="1554480" cy="1554480"/>
          </a:xfrm>
          <a:prstGeom prst="ellipse">
            <a:avLst/>
          </a:prstGeom>
          <a:solidFill>
            <a:srgbClr val="0B1329"/>
          </a:solidFill>
          <a:ln/>
        </p:spPr>
      </p:sp>
      <p:sp>
        <p:nvSpPr>
          <p:cNvPr id="25" name="Text 23"/>
          <p:cNvSpPr/>
          <p:nvPr/>
        </p:nvSpPr>
        <p:spPr>
          <a:xfrm>
            <a:off x="10241280" y="2331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241280" y="27432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kárdex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4206240"/>
            <a:ext cx="11338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el bloque: el calendario, el temario y la bandeja no son “admin”. Son esta semana, vista desde el otro lado.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30" name="Text 27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DÓNDE ENTRA EL PROFESOR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docente: bandeja + esta semana + 7 atajos</a:t>
            </a:r>
            <a:endParaRPr lang="en-US" sz="2600" dirty="0"/>
          </a:p>
        </p:txBody>
      </p:sp>
      <p:pic>
        <p:nvPicPr>
          <p:cNvPr id="4" name="Image 0" descr="C:\Users\JmYoc\OneDrive\Documentos\DeepLuxMed\ClasesEMG\NeuroSAFE\docs\intro\screenshots\06-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97280"/>
            <a:ext cx="11521440" cy="5303520"/>
          </a:xfrm>
          <a:prstGeom prst="ellipse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7" name="Text 3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QUE YA EXISTE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página ancla por tarea. No cuatro sitios.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1430000" cy="411480"/>
          </a:xfrm>
          <a:prstGeom prst="roundRect">
            <a:avLst>
              <a:gd name="adj" fmla="val 13333"/>
            </a:avLst>
          </a:prstGeom>
          <a:solidFill>
            <a:srgbClr val="0B132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04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80560" y="11704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0" y="11704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1143000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6459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 /admin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164592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Bandeja, reintentos, riesgo, atajos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0" y="164592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y dirección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1143000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3774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 /admin/calendario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237744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de la semana: clase, examen, caso, corte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869680" y="23774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y dirección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1143000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10896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Alumnos  /admin/alumnos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310896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Cohorte, rúbricas, kárdex, pase de lista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0" y="310896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y dirección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1143000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84048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Temario  /admin/temario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80560" y="384048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Ordenar, ocultar, crear, vista previa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69680" y="384048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y dirección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572000"/>
            <a:ext cx="1143000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57200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/ Ejercicios / Talleres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80560" y="457200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preguntas, casos EMG, clases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0" y="457200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y dirección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5303520"/>
            <a:ext cx="1143000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53035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Admisiones / Usuarios / Acceso / Auditoría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80560" y="530352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espera, roles, premium, bitácora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869680" y="530352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dirección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34" name="Text 31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LA SEMANA DEL PROFESOR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pasos. En este orden.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572768" cy="4480560"/>
          </a:xfrm>
          <a:prstGeom prst="roundRect">
            <a:avLst>
              <a:gd name="adj" fmla="val 5814"/>
            </a:avLst>
          </a:prstGeom>
          <a:solidFill>
            <a:srgbClr val="0B132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002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214884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Calendarizar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138988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+ clase + examen + caso en /admin/calendario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48256" y="1417320"/>
            <a:ext cx="1572768" cy="4480560"/>
          </a:xfrm>
          <a:prstGeom prst="roundRect">
            <a:avLst>
              <a:gd name="adj" fmla="val 5814"/>
            </a:avLst>
          </a:prstGeom>
          <a:solidFill>
            <a:srgbClr val="0B1329"/>
          </a:solidFill>
          <a:ln/>
        </p:spPr>
      </p:sp>
      <p:sp>
        <p:nvSpPr>
          <p:cNvPr id="9" name="Text 7"/>
          <p:cNvSpPr/>
          <p:nvPr/>
        </p:nvSpPr>
        <p:spPr>
          <a:xfrm>
            <a:off x="2048256" y="16002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21408" y="214884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39696" y="3246120"/>
            <a:ext cx="138988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/ ocultar los temas de esa semana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30752" y="1417320"/>
            <a:ext cx="1572768" cy="4480560"/>
          </a:xfrm>
          <a:prstGeom prst="roundRect">
            <a:avLst>
              <a:gd name="adj" fmla="val 5814"/>
            </a:avLst>
          </a:prstGeom>
          <a:solidFill>
            <a:srgbClr val="0B1329"/>
          </a:solidFill>
          <a:ln/>
        </p:spPr>
      </p:sp>
      <p:sp>
        <p:nvSpPr>
          <p:cNvPr id="13" name="Text 11"/>
          <p:cNvSpPr/>
          <p:nvPr/>
        </p:nvSpPr>
        <p:spPr>
          <a:xfrm>
            <a:off x="3730752" y="16002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03904" y="214884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22192" y="3246120"/>
            <a:ext cx="138988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en vivo o presencial + grabación después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13248" y="1417320"/>
            <a:ext cx="1572768" cy="4480560"/>
          </a:xfrm>
          <a:prstGeom prst="roundRect">
            <a:avLst>
              <a:gd name="adj" fmla="val 5814"/>
            </a:avLst>
          </a:prstGeom>
          <a:solidFill>
            <a:srgbClr val="0B1329"/>
          </a:solidFill>
          <a:ln/>
        </p:spPr>
      </p:sp>
      <p:sp>
        <p:nvSpPr>
          <p:cNvPr id="17" name="Text 15"/>
          <p:cNvSpPr/>
          <p:nvPr/>
        </p:nvSpPr>
        <p:spPr>
          <a:xfrm>
            <a:off x="5413248" y="16002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0" y="214884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04688" y="3246120"/>
            <a:ext cx="138988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y/o caso EMG a la cohorte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95744" y="1417320"/>
            <a:ext cx="1572768" cy="4480560"/>
          </a:xfrm>
          <a:prstGeom prst="roundRect">
            <a:avLst>
              <a:gd name="adj" fmla="val 5814"/>
            </a:avLst>
          </a:prstGeom>
          <a:solidFill>
            <a:srgbClr val="0B1329"/>
          </a:solidFill>
          <a:ln/>
        </p:spPr>
      </p:sp>
      <p:sp>
        <p:nvSpPr>
          <p:cNvPr id="21" name="Text 19"/>
          <p:cNvSpPr/>
          <p:nvPr/>
        </p:nvSpPr>
        <p:spPr>
          <a:xfrm>
            <a:off x="7095744" y="16002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68896" y="214884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Pase de lista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87184" y="3246120"/>
            <a:ext cx="138988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que cuenta al kárdex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778240" y="1417320"/>
            <a:ext cx="1572768" cy="4480560"/>
          </a:xfrm>
          <a:prstGeom prst="roundRect">
            <a:avLst>
              <a:gd name="adj" fmla="val 5814"/>
            </a:avLst>
          </a:prstGeom>
          <a:solidFill>
            <a:srgbClr val="0B1329"/>
          </a:solidFill>
          <a:ln/>
        </p:spPr>
      </p:sp>
      <p:sp>
        <p:nvSpPr>
          <p:cNvPr id="25" name="Text 23"/>
          <p:cNvSpPr/>
          <p:nvPr/>
        </p:nvSpPr>
        <p:spPr>
          <a:xfrm>
            <a:off x="8778240" y="16002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851392" y="214884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69680" y="3246120"/>
            <a:ext cx="138988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 de entregas y reintentos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460736" y="1417320"/>
            <a:ext cx="1572768" cy="4480560"/>
          </a:xfrm>
          <a:prstGeom prst="roundRect">
            <a:avLst>
              <a:gd name="adj" fmla="val 5814"/>
            </a:avLst>
          </a:prstGeom>
          <a:solidFill>
            <a:srgbClr val="0B1329"/>
          </a:solidFill>
          <a:ln/>
        </p:spPr>
      </p:sp>
      <p:sp>
        <p:nvSpPr>
          <p:cNvPr id="29" name="Text 27"/>
          <p:cNvSpPr/>
          <p:nvPr/>
        </p:nvSpPr>
        <p:spPr>
          <a:xfrm>
            <a:off x="10460736" y="16002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533888" y="214884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Tutorizar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552176" y="3246120"/>
            <a:ext cx="138988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Alumnos en riesgo → kárdex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34" name="Text 31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 ·  /ADMIN/CALENDARIO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no es un Google Calendar</a:t>
            </a:r>
            <a:endParaRPr lang="en-US" sz="2600" dirty="0"/>
          </a:p>
        </p:txBody>
      </p:sp>
      <p:pic>
        <p:nvPicPr>
          <p:cNvPr id="4" name="Image 0" descr="C:\Users\JmYoc\OneDrive\Documentos\DeepLuxMed\ClasesEMG\NeuroSAFE\docs\intro\screenshots\07-calend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97280"/>
            <a:ext cx="11521440" cy="5303520"/>
          </a:xfrm>
          <a:prstGeom prst="ellipse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7" name="Text 3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UN DÍA VACÍO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menú. Cuatro cosas que sí existen.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1133856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508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BE123C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371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en vivo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o sesión que cuenta a asistencia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2468880"/>
            <a:ext cx="1133856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2697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560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2971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evaluación a la cohorte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" y="3657600"/>
            <a:ext cx="1133856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3886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47857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37490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EMG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clínica del simulador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1480" y="4846320"/>
            <a:ext cx="1133856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50749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" y="49377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académico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25880" y="5349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temas y fecha de corte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22" name="Text 19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 ·  CÓMO SE EVALÚA EL CURSO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A: si no suma 100, el promedio miente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788920" cy="3108960"/>
          </a:xfrm>
          <a:prstGeom prst="roundRect">
            <a:avLst>
              <a:gd name="adj" fmla="val 3934"/>
            </a:avLst>
          </a:prstGeom>
          <a:solidFill>
            <a:srgbClr val="0B132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Exámenes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oficiales y exámenes asignados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788920" cy="3108960"/>
          </a:xfrm>
          <a:prstGeom prst="roundRect">
            <a:avLst>
              <a:gd name="adj" fmla="val 3934"/>
            </a:avLst>
          </a:prstGeom>
          <a:solidFill>
            <a:srgbClr val="0B1329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6459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0" y="24688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/ casos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32004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entregas aprobadas con nota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371600"/>
            <a:ext cx="2788920" cy="3108960"/>
          </a:xfrm>
          <a:prstGeom prst="roundRect">
            <a:avLst>
              <a:gd name="adj" fmla="val 3934"/>
            </a:avLst>
          </a:prstGeom>
          <a:solidFill>
            <a:srgbClr val="0B132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6459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00800" y="24688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32004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auditadas (pase de lista)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89720" y="1371600"/>
            <a:ext cx="2788920" cy="3108960"/>
          </a:xfrm>
          <a:prstGeom prst="roundRect">
            <a:avLst>
              <a:gd name="adj" fmla="val 3934"/>
            </a:avLst>
          </a:prstGeom>
          <a:solidFill>
            <a:srgbClr val="0B1329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0" y="16459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326880" y="24688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Temario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26880" y="32004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real de temas hoja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4709160"/>
            <a:ext cx="11338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para acreditar: 80. Honores: ≥ 95 + cédula verificada. Una cubeta vacía no inventa 85: se ve “sin calificar”.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23" name="Text 20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 ·  PROGRAMAR EL ENCUENTRO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en vivo / grabación</a:t>
            </a:r>
            <a:endParaRPr lang="en-US" sz="2600" dirty="0"/>
          </a:p>
        </p:txBody>
      </p:sp>
      <p:pic>
        <p:nvPicPr>
          <p:cNvPr id="4" name="Image 0" descr="C:\Users\JmYoc\OneDrive\Documentos\DeepLuxMed\ClasesEMG\NeuroSAFE\docs\intro\screenshots\09-talle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97280"/>
            <a:ext cx="7589520" cy="525780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92440" y="1188720"/>
            <a:ext cx="37490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que importan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Título, módulo, fecha, duración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línea o presencial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 stream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para kárdex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Grabación (después)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desde el calendario, Inicio o /admin/talleres. El profesor editor ya puede guardar.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8" name="Text 4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 ·  ASIGNAR EXAMEN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alumno lo ve en Tareas. Si reprueba, pide reintento.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11338560" cy="841248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Alumnos (uno, varios o cohorte)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2240280"/>
            <a:ext cx="11338560" cy="841248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23774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/ temas y banco de preguntas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11480" y="3200400"/>
            <a:ext cx="11338560" cy="841248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33375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Intentos, tiempo, mezclar preguntas y opciones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11480" y="4160520"/>
            <a:ext cx="11338560" cy="841248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429768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Integridad: al agotar intentos se bloquea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11480" y="5120640"/>
            <a:ext cx="11338560" cy="841248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5257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525780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profesor aprueba o rechaza el desbloqueo en la bandeja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21" name="Text 18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 ·  ASIGNAR CASO EMG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profesor califica el dictamen, no un score automático</a:t>
            </a:r>
            <a:endParaRPr lang="en-US" sz="2600" dirty="0"/>
          </a:p>
        </p:txBody>
      </p:sp>
      <p:pic>
        <p:nvPicPr>
          <p:cNvPr id="4" name="Image 0" descr="C:\Users\JmYoc\OneDrive\Documentos\DeepLuxMed\ClasesEMG\NeuroSAFE\docs\intro\screenshots\12-ejercic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97280"/>
            <a:ext cx="7589520" cy="525780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92440" y="1280160"/>
            <a:ext cx="374904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del caso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Práctica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Solo examen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Ambos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no aparece en el portal solo porque existe en el banco.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8" name="Text 4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  ·  CHECKLIST DEL DÍA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clics. Si pides más, la UI falló.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11338560" cy="1051560"/>
          </a:xfrm>
          <a:prstGeom prst="roundRect">
            <a:avLst>
              <a:gd name="adj" fmla="val 8696"/>
            </a:avLst>
          </a:prstGeom>
          <a:solidFill>
            <a:srgbClr val="0B132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0" y="1508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el taller / stream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2514600"/>
            <a:ext cx="11338560" cy="1051560"/>
          </a:xfrm>
          <a:prstGeom prst="roundRect">
            <a:avLst>
              <a:gd name="adj" fmla="val 8696"/>
            </a:avLst>
          </a:prstGeom>
          <a:solidFill>
            <a:srgbClr val="0B132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9748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828800" y="269748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Pase de lista (cuenta a kárdex)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11480" y="3703320"/>
            <a:ext cx="11338560" cy="1051560"/>
          </a:xfrm>
          <a:prstGeom prst="roundRect">
            <a:avLst>
              <a:gd name="adj" fmla="val 8696"/>
            </a:avLst>
          </a:prstGeom>
          <a:solidFill>
            <a:srgbClr val="0B132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8620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828800" y="388620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que el tema de la semana está visible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11480" y="4892040"/>
            <a:ext cx="11338560" cy="1051560"/>
          </a:xfrm>
          <a:prstGeom prst="roundRect">
            <a:avLst>
              <a:gd name="adj" fmla="val 8696"/>
            </a:avLst>
          </a:prstGeom>
          <a:solidFill>
            <a:srgbClr val="0B132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7492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828800" y="50749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 caso o examen con fecha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18" name="Text 15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CÓMO SE TOCA EL CONTENIDO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palancas. No “el editor”.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3657600" cy="4206240"/>
          </a:xfrm>
          <a:prstGeom prst="roundRect">
            <a:avLst>
              <a:gd name="adj" fmla="val 3500"/>
            </a:avLst>
          </a:prstGeom>
          <a:solidFill>
            <a:srgbClr val="0B132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Organizar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/admin/temario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Ordenar, ocultar, crear tema o subtema, vista previa del alumno.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51960" y="1325880"/>
            <a:ext cx="3657600" cy="4206240"/>
          </a:xfrm>
          <a:prstGeom prst="roundRect">
            <a:avLst>
              <a:gd name="adj" fmla="val 3500"/>
            </a:avLst>
          </a:prstGeom>
          <a:solidFill>
            <a:srgbClr val="0B1329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6002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Reescribir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480560" y="246888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Lápiz → revisión editorial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→ cola → aprobar. Admin/editor puede publicar al instante.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92440" y="1325880"/>
            <a:ext cx="3657600" cy="4206240"/>
          </a:xfrm>
          <a:prstGeom prst="roundRect">
            <a:avLst>
              <a:gd name="adj" fmla="val 3500"/>
            </a:avLst>
          </a:prstGeom>
          <a:solidFill>
            <a:srgbClr val="0B1329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16002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Enriquecer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21040" y="246888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lección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Video, PDF, imagen o perla. Para “sube la clase de ayer” no hace falta el editor largo.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15" name="Text 12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PALANCA 1  ·  /ADMIN/TEMARIO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Ocultar no borra. Reordenar no reescribe.</a:t>
            </a:r>
            <a:endParaRPr lang="en-US" sz="2600" dirty="0"/>
          </a:p>
        </p:txBody>
      </p:sp>
      <p:pic>
        <p:nvPicPr>
          <p:cNvPr id="4" name="Image 0" descr="C:\Users\JmYoc\OneDrive\Documentos\DeepLuxMed\ClasesEMG\NeuroSAFE\docs\intro\screenshots\10-temario-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97280"/>
            <a:ext cx="11521440" cy="5303520"/>
          </a:xfrm>
          <a:prstGeom prst="ellipse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7" name="Text 3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SLIDE MÁS ÚTIL DEL BLOQUE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quieres hacer?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alumno NO vea un tema esta semana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23760" y="11887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Temario → Ojo (ocultar)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1168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el orden de la clase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23760" y="20116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Temario → flechas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34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subtema nuevo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28346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Temario → + Subtema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5760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un valor o un párrafo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23760" y="36576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Lápiz → revisión → (aprobar)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4480560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8056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video / imagen / perla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23760" y="44805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la lección → material rápido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5303520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30352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ese tema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23760" y="53035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Quizzes; el tema solo no crea examen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24" name="Text 21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EL SIMULADOR NO ES EL TEMARIO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patrones. El motor sortea valores.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788920" cy="2057400"/>
          </a:xfrm>
          <a:prstGeom prst="roundRect">
            <a:avLst>
              <a:gd name="adj" fmla="val 5333"/>
            </a:avLst>
          </a:prstGeom>
          <a:solidFill>
            <a:srgbClr val="0B132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Atrapamiento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2788920" cy="2057400"/>
          </a:xfrm>
          <a:prstGeom prst="roundRect">
            <a:avLst>
              <a:gd name="adj" fmla="val 5333"/>
            </a:avLst>
          </a:prstGeom>
          <a:solidFill>
            <a:srgbClr val="0B1329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20116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2788920" cy="2057400"/>
          </a:xfrm>
          <a:prstGeom prst="roundRect">
            <a:avLst>
              <a:gd name="adj" fmla="val 5333"/>
            </a:avLst>
          </a:prstGeom>
          <a:solidFill>
            <a:srgbClr val="0B132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0116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Desmielinizante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89720" y="1371600"/>
            <a:ext cx="2788920" cy="2057400"/>
          </a:xfrm>
          <a:prstGeom prst="roundRect">
            <a:avLst>
              <a:gd name="adj" fmla="val 5333"/>
            </a:avLst>
          </a:prstGeom>
          <a:solidFill>
            <a:srgbClr val="0B1329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0" y="20116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Radiculopatía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11480" y="3657600"/>
            <a:ext cx="2788920" cy="2057400"/>
          </a:xfrm>
          <a:prstGeom prst="roundRect">
            <a:avLst>
              <a:gd name="adj" fmla="val 5333"/>
            </a:avLst>
          </a:prstGeom>
          <a:solidFill>
            <a:srgbClr val="0B132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976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Plexopatía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37560" y="3657600"/>
            <a:ext cx="2788920" cy="2057400"/>
          </a:xfrm>
          <a:prstGeom prst="roundRect">
            <a:avLst>
              <a:gd name="adj" fmla="val 5333"/>
            </a:avLst>
          </a:prstGeom>
          <a:solidFill>
            <a:srgbClr val="0B1329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42976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NMJ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63640" y="3657600"/>
            <a:ext cx="2788920" cy="2057400"/>
          </a:xfrm>
          <a:prstGeom prst="roundRect">
            <a:avLst>
              <a:gd name="adj" fmla="val 5333"/>
            </a:avLst>
          </a:prstGeom>
          <a:solidFill>
            <a:srgbClr val="0B132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42976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Motoneurona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89720" y="3657600"/>
            <a:ext cx="2788920" cy="2057400"/>
          </a:xfrm>
          <a:prstGeom prst="roundRect">
            <a:avLst>
              <a:gd name="adj" fmla="val 5333"/>
            </a:avLst>
          </a:prstGeom>
          <a:solidFill>
            <a:srgbClr val="0B1329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0" y="42976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22" name="Text 19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 · EVALUAR  ·  NO MEZCLAR NOMBRES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instrumentos distintos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1430000" cy="457200"/>
          </a:xfrm>
          <a:prstGeom prst="roundRect">
            <a:avLst>
              <a:gd name="adj" fmla="val 12000"/>
            </a:avLst>
          </a:prstGeom>
          <a:solidFill>
            <a:srgbClr val="0B132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043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37560" y="117043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crea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72200" y="117043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lo ve el alumno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06840" y="117043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califica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3736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del tema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73736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/admin/quizzes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72200" y="173736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 la lección hoja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006840" y="173736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 (p. ej. 70)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78892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asignado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78892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Asignar Examen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278892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/ sesión de examen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06840" y="278892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 + integridad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84048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/ tarea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37560" y="384048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+ asignar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72200" y="384048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+ entrega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06840" y="384048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profesor (bandeja)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892040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89204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37560" y="489204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Pase de lista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72200" y="489204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en Desempeño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06840" y="489204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del día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31" name="Text 28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CURRICULARES  ·  /ADMIN/QUIZZES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ligan al tema hoja. Sin preguntas, no hay badge.</a:t>
            </a:r>
            <a:endParaRPr lang="en-US" sz="2600" dirty="0"/>
          </a:p>
        </p:txBody>
      </p:sp>
      <p:pic>
        <p:nvPicPr>
          <p:cNvPr id="4" name="Image 0" descr="C:\Users\JmYoc\OneDrive\Documentos\DeepLuxMed\ClasesEMG\NeuroSAFE\docs\intro\screenshots\11-quizz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97280"/>
            <a:ext cx="11521440" cy="5303520"/>
          </a:xfrm>
          <a:prstGeom prst="ellipse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7" name="Text 3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 DEL INICIO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calificar · reintentos · en riesgo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3657600" cy="4114800"/>
          </a:xfrm>
          <a:prstGeom prst="roundRect">
            <a:avLst>
              <a:gd name="adj" fmla="val 3500"/>
            </a:avLst>
          </a:prstGeom>
          <a:solidFill>
            <a:srgbClr val="0B132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calificar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Dictamen + nota del caso o tarea. No dejes la bandeja para el corte.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51960" y="1371600"/>
            <a:ext cx="3657600" cy="4114800"/>
          </a:xfrm>
          <a:prstGeom prst="roundRect">
            <a:avLst>
              <a:gd name="adj" fmla="val 3500"/>
            </a:avLst>
          </a:prstGeom>
          <a:solidFill>
            <a:srgbClr val="0B1329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6916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480560" y="292608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intento o rechazo con motivo. El alumno lo pidió desde el portal.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92440" y="1371600"/>
            <a:ext cx="3657600" cy="4114800"/>
          </a:xfrm>
          <a:prstGeom prst="roundRect">
            <a:avLst>
              <a:gd name="adj" fmla="val 3500"/>
            </a:avLst>
          </a:prstGeom>
          <a:solidFill>
            <a:srgbClr val="0B1329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16916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riesgo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21040" y="292608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kárdex de esos 5. No busques Excel.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15" name="Text 12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 ·  /ADMIN/ALUMNOS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cohorte, no una hoja de cálculo</a:t>
            </a:r>
            <a:endParaRPr lang="en-US" sz="2600" dirty="0"/>
          </a:p>
        </p:txBody>
      </p:sp>
      <p:pic>
        <p:nvPicPr>
          <p:cNvPr id="4" name="Image 0" descr="C:\Users\JmYoc\OneDrive\Documentos\DeepLuxMed\ClasesEMG\NeuroSAFE\docs\intro\screenshots\08-alumn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97280"/>
            <a:ext cx="11521440" cy="5303520"/>
          </a:xfrm>
          <a:prstGeom prst="ellipse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7" name="Text 3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ENTRA EL PROFESOR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 o enlace mágico. Luego cae en /admin.</a:t>
            </a:r>
            <a:endParaRPr lang="en-US" sz="2600" dirty="0"/>
          </a:p>
        </p:txBody>
      </p:sp>
      <p:pic>
        <p:nvPicPr>
          <p:cNvPr id="4" name="Image 0" descr="C:\Users\JmYoc\OneDrive\Documentos\DeepLuxMed\ClasesEMG\NeuroSAFE\docs\intro\screenshots\03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097280"/>
            <a:ext cx="8321040" cy="5257800"/>
          </a:xfrm>
          <a:prstGeom prst="ellipse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7" name="Text 3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7 · EL PROFESOR MANEJA. TÚ NO.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 de 12 páginas, en este orden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5715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/  o  /temario  — vista pública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2011680"/>
            <a:ext cx="5715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/portal  — así entra el alumno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2834640"/>
            <a:ext cx="5715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/modulo/{id}/{tema}  — video + quiz + offline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3657600"/>
            <a:ext cx="5715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/ejercicios  — simulador como alumno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4480560"/>
            <a:ext cx="5715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/admin  — Inicio docente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5303520"/>
            <a:ext cx="5715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/admin/calendario  — crear la semana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09360" y="1188720"/>
            <a:ext cx="5715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Crear o editar una clase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2011680"/>
            <a:ext cx="5715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/admin/temario  — ocultar, reordenar, vista previa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2834640"/>
            <a:ext cx="5715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Lápiz de un tema → volver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3657600"/>
            <a:ext cx="5715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/admin/quizzes  — abrir uno existente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4480560"/>
            <a:ext cx="5715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/admin/ejercicios  — duplicar y asignar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5303520"/>
            <a:ext cx="5715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/admin/alumnos/{alumno}  — ¿se ve la tarea?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18" name="Text 15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8 · PERMISOS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· con aviso · no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749040" cy="5029200"/>
          </a:xfrm>
          <a:prstGeom prst="roundRect">
            <a:avLst>
              <a:gd name="adj" fmla="val 3415"/>
            </a:avLst>
          </a:prstGeom>
          <a:solidFill>
            <a:srgbClr val="0B132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34440"/>
            <a:ext cx="3749040" cy="914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trabajo del titular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3832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y bandeja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y clases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Temario de su curso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y casos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 y asistencia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 de su lista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51960" y="1234440"/>
            <a:ext cx="3749040" cy="5029200"/>
          </a:xfrm>
          <a:prstGeom prst="roundRect">
            <a:avLst>
              <a:gd name="adj" fmla="val 3415"/>
            </a:avLst>
          </a:prstGeom>
          <a:solidFill>
            <a:srgbClr val="0B1329"/>
          </a:solidFill>
          <a:ln/>
        </p:spPr>
      </p:sp>
      <p:sp>
        <p:nvSpPr>
          <p:cNvPr id="9" name="Shape 7"/>
          <p:cNvSpPr/>
          <p:nvPr/>
        </p:nvSpPr>
        <p:spPr>
          <a:xfrm>
            <a:off x="4251960" y="1234440"/>
            <a:ext cx="37490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5087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CON AVISO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34840" y="2606040"/>
            <a:ext cx="33832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al instante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Ocultar un módulo entero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un caso custom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pesos de rúbrica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previa como alumno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1234440"/>
            <a:ext cx="3749040" cy="5029200"/>
          </a:xfrm>
          <a:prstGeom prst="roundRect">
            <a:avLst>
              <a:gd name="adj" fmla="val 3415"/>
            </a:avLst>
          </a:prstGeom>
          <a:solidFill>
            <a:srgbClr val="0B1329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0" y="1234440"/>
            <a:ext cx="3749040" cy="9144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5087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dirección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2606040"/>
            <a:ext cx="33832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administradores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cuentas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y pasarela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técnica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Impersonar sin marca de agua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18" name="Text 15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9 · TRES DECISIONES DE LA REUNIÓN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salgan sin contestar esto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11338560" cy="150876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17320" y="1371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titular entra siempre por Inicio docente aunque no sea admin?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sí, si tiene rol editor.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11338560" cy="150876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6324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17320" y="3017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¿Editar un tema se queda en /admin/temario o seguimos saltando a /colaborador?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6576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salto visual es la fricción #1 de contenido.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" y="4526280"/>
            <a:ext cx="11338560" cy="150876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70916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17320" y="4663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entra al panel de ajustes docentes v1?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5303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priorizaría: cohorte, defaults de examen, rúbrica, notificaciones, vista previa.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18" name="Text 15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HANDOUT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para tenerlas a la mano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/auth/login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del profesor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· bandeja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/admin/calendario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semana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/admin/alumnos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y kárdex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07492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/admin/temario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54406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y visibilidad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23444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/admin/quizzes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16002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 de tema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19456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/admin/ejercicios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25603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casos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154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/admin/talleres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35204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y grabaciones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411480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/portal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4480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 el alumno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507492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/temario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54406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pública del programa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329"/>
          </a:solidFill>
          <a:ln/>
        </p:spPr>
      </p:sp>
      <p:sp>
        <p:nvSpPr>
          <p:cNvPr id="26" name="Text 23"/>
          <p:cNvSpPr/>
          <p:nvPr/>
        </p:nvSpPr>
        <p:spPr>
          <a:xfrm>
            <a:off x="320040" y="6656832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ElectroDx Diplomado  ·  Guía del profesor  ·  Del temario a la calificación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109960" y="6656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ElectroDx · Cómo el profesor planea, publica y evalúa</dc:title>
  <dc:subject>Guía de inducción docente</dc:subject>
  <dc:creator>ElectroDx Diplomado</dc:creator>
  <cp:lastModifiedBy>ElectroDx Diplomado</cp:lastModifiedBy>
  <cp:revision>1</cp:revision>
  <dcterms:created xsi:type="dcterms:W3CDTF">2026-09-21T21:53:41Z</dcterms:created>
  <dcterms:modified xsi:type="dcterms:W3CDTF">2026-09-21T21:53:41Z</dcterms:modified>
</cp:coreProperties>
</file>